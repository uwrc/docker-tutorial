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5143500" cx="9144000"/>
  <p:notesSz cx="6858000" cy="9144000"/>
  <p:embeddedFontLst>
    <p:embeddedFont>
      <p:font typeface="Varela Round"/>
      <p:regular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14" Type="http://schemas.openxmlformats.org/officeDocument/2006/relationships/slide" Target="slides/slide9.xml"/><Relationship Id="rId36" Type="http://schemas.openxmlformats.org/officeDocument/2006/relationships/font" Target="fonts/VarelaRound-regular.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ab583b2b84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3ab583b2b84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ab583b2b84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ab583b2b84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ab583b2b84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ab583b2b84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ab583b2b84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ab583b2b84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ab583b2b84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ab583b2b84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ab583b2b84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ab583b2b84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aba61aa7a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aba61aa7a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aba61aa7a7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aba61aa7a7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ab583b2b84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ab583b2b84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a9867fa3f3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a9867fa3f3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a9867fa3f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a9867fa3f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a9867fa3f3_0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a9867fa3f3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a9867fa3f3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a9867fa3f3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a9867fa3f3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a9867fa3f3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a9867fa3f3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a9867fa3f3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a9867fa3f3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a9867fa3f3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a9867fa3f3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a9867fa3f3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a9867fa3f3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a9867fa3f3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a9867fa3f3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a9867fa3f3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a9867fa3f3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a9867fa3f3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a9867fa3f3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3a9867fa3f3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a9867fa3f3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3a9867fa3f3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ab583b2b84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ab583b2b84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a9867fa3f3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3a9867fa3f3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ab583b2b84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3ab583b2b84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a9867fa3f3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3a9867fa3f3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a9867fa3f3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3a9867fa3f3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a9867fa3f3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3a9867fa3f3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a9867fa3f3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3a9867fa3f3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3.png"/><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hyperlink" Target="http://localhost:8080"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hyperlink" Target="https://docs.docker.com/build/building/multi-platform/"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9750"/>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Docker Containerization</a:t>
            </a:r>
            <a:endParaRPr/>
          </a:p>
        </p:txBody>
      </p:sp>
      <p:sp>
        <p:nvSpPr>
          <p:cNvPr id="55" name="Google Shape;55;p13"/>
          <p:cNvSpPr txBox="1"/>
          <p:nvPr>
            <p:ph idx="1" type="subTitle"/>
          </p:nvPr>
        </p:nvSpPr>
        <p:spPr>
          <a:xfrm>
            <a:off x="311700" y="2977250"/>
            <a:ext cx="8520600" cy="1609500"/>
          </a:xfrm>
          <a:prstGeom prst="rect">
            <a:avLst/>
          </a:prstGeom>
        </p:spPr>
        <p:txBody>
          <a:bodyPr anchorCtr="0" anchor="t" bIns="91425" lIns="91425" spcFirstLastPara="1" rIns="91425" wrap="square" tIns="91425">
            <a:normAutofit fontScale="70000" lnSpcReduction="20000"/>
          </a:bodyPr>
          <a:lstStyle/>
          <a:p>
            <a:pPr indent="0" lvl="0" marL="0" rtl="0" algn="ctr">
              <a:spcBef>
                <a:spcPts val="0"/>
              </a:spcBef>
              <a:spcAft>
                <a:spcPts val="0"/>
              </a:spcAft>
              <a:buNone/>
            </a:pPr>
            <a:r>
              <a:rPr lang="en"/>
              <a:t>Rob Fatland, Kristen Finch</a:t>
            </a:r>
            <a:endParaRPr/>
          </a:p>
          <a:p>
            <a:pPr indent="0" lvl="0" marL="0" rtl="0" algn="ctr">
              <a:spcBef>
                <a:spcPts val="0"/>
              </a:spcBef>
              <a:spcAft>
                <a:spcPts val="0"/>
              </a:spcAft>
              <a:buNone/>
            </a:pPr>
            <a:r>
              <a:rPr lang="en"/>
              <a:t>UW IT Research Computing</a:t>
            </a:r>
            <a:endParaRPr/>
          </a:p>
          <a:p>
            <a:pPr indent="0" lvl="0" marL="0" rtl="0" algn="ctr">
              <a:spcBef>
                <a:spcPts val="0"/>
              </a:spcBef>
              <a:spcAft>
                <a:spcPts val="0"/>
              </a:spcAft>
              <a:buNone/>
            </a:pPr>
            <a:r>
              <a:rPr lang="en" sz="2158"/>
              <a:t>2-DEC-2025</a:t>
            </a:r>
            <a:endParaRPr sz="2158"/>
          </a:p>
          <a:p>
            <a:pPr indent="0" lvl="0" marL="0" rtl="0" algn="ctr">
              <a:spcBef>
                <a:spcPts val="0"/>
              </a:spcBef>
              <a:spcAft>
                <a:spcPts val="0"/>
              </a:spcAft>
              <a:buNone/>
            </a:pPr>
            <a:r>
              <a:t/>
            </a:r>
            <a:endParaRPr sz="2158"/>
          </a:p>
          <a:p>
            <a:pPr indent="0" lvl="0" marL="0" rtl="0" algn="ctr">
              <a:spcBef>
                <a:spcPts val="0"/>
              </a:spcBef>
              <a:spcAft>
                <a:spcPts val="0"/>
              </a:spcAft>
              <a:buNone/>
            </a:pPr>
            <a:r>
              <a:t/>
            </a:r>
            <a:endParaRPr sz="2158"/>
          </a:p>
          <a:p>
            <a:pPr indent="0" lvl="0" marL="0" rtl="0" algn="ctr">
              <a:spcBef>
                <a:spcPts val="0"/>
              </a:spcBef>
              <a:spcAft>
                <a:spcPts val="0"/>
              </a:spcAft>
              <a:buNone/>
            </a:pPr>
            <a:r>
              <a:rPr lang="en" sz="2158"/>
              <a:t>Hypothesis refinement: AWS Q Developer coding assistant</a:t>
            </a:r>
            <a:endParaRPr sz="2158"/>
          </a:p>
          <a:p>
            <a:pPr indent="0" lvl="0" marL="0" rtl="0" algn="ctr">
              <a:spcBef>
                <a:spcPts val="0"/>
              </a:spcBef>
              <a:spcAft>
                <a:spcPts val="0"/>
              </a:spcAft>
              <a:buNone/>
            </a:pPr>
            <a:r>
              <a:t/>
            </a:r>
            <a:endParaRPr sz="2158"/>
          </a:p>
        </p:txBody>
      </p:sp>
      <p:sp>
        <p:nvSpPr>
          <p:cNvPr id="56" name="Google Shape;56;p13"/>
          <p:cNvSpPr txBox="1"/>
          <p:nvPr/>
        </p:nvSpPr>
        <p:spPr>
          <a:xfrm>
            <a:off x="4413000" y="102800"/>
            <a:ext cx="4643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latin typeface="Courier New"/>
                <a:ea typeface="Courier New"/>
                <a:cs typeface="Courier New"/>
                <a:sym typeface="Courier New"/>
              </a:rPr>
              <a:t>docker run hello-world</a:t>
            </a:r>
            <a:endParaRPr b="1" sz="1800">
              <a:solidFill>
                <a:schemeClr val="dk2"/>
              </a:solidFill>
              <a:latin typeface="Courier New"/>
              <a:ea typeface="Courier New"/>
              <a:cs typeface="Courier New"/>
              <a:sym typeface="Courier New"/>
            </a:endParaRPr>
          </a:p>
        </p:txBody>
      </p:sp>
      <p:sp>
        <p:nvSpPr>
          <p:cNvPr id="57" name="Google Shape;57;p13"/>
          <p:cNvSpPr/>
          <p:nvPr/>
        </p:nvSpPr>
        <p:spPr>
          <a:xfrm>
            <a:off x="4362150" y="116875"/>
            <a:ext cx="3360600" cy="462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939450" y="808375"/>
            <a:ext cx="7265100" cy="701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2320"/>
              <a:t>The </a:t>
            </a:r>
            <a:r>
              <a:rPr lang="en" sz="2320"/>
              <a:t>Lab Sequence: Optional “code along”</a:t>
            </a:r>
            <a:endParaRPr sz="2320"/>
          </a:p>
        </p:txBody>
      </p:sp>
      <p:sp>
        <p:nvSpPr>
          <p:cNvPr id="63" name="Google Shape;63;p14"/>
          <p:cNvSpPr txBox="1"/>
          <p:nvPr>
            <p:ph idx="1" type="body"/>
          </p:nvPr>
        </p:nvSpPr>
        <p:spPr>
          <a:xfrm>
            <a:off x="414525" y="1562336"/>
            <a:ext cx="8520600" cy="32733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Run a hello-world Docker Image (this page)</a:t>
            </a:r>
            <a:endParaRPr/>
          </a:p>
          <a:p>
            <a:pPr indent="-342900" lvl="0" marL="457200" rtl="0" algn="l">
              <a:spcBef>
                <a:spcPts val="0"/>
              </a:spcBef>
              <a:spcAft>
                <a:spcPts val="0"/>
              </a:spcAft>
              <a:buSzPts val="1800"/>
              <a:buAutoNum type="arabicPeriod"/>
            </a:pPr>
            <a:r>
              <a:rPr lang="en"/>
              <a:t>Access</a:t>
            </a:r>
            <a:r>
              <a:rPr lang="en"/>
              <a:t> workshop content (copy with </a:t>
            </a:r>
            <a:r>
              <a:rPr b="1" lang="en">
                <a:latin typeface="Courier New"/>
                <a:ea typeface="Courier New"/>
                <a:cs typeface="Courier New"/>
                <a:sym typeface="Courier New"/>
              </a:rPr>
              <a:t>git clone</a:t>
            </a:r>
            <a:r>
              <a:rPr lang="en"/>
              <a:t> or read along)</a:t>
            </a:r>
            <a:endParaRPr/>
          </a:p>
          <a:p>
            <a:pPr indent="-317500" lvl="1" marL="914400" rtl="0" algn="l">
              <a:spcBef>
                <a:spcPts val="0"/>
              </a:spcBef>
              <a:spcAft>
                <a:spcPts val="0"/>
              </a:spcAft>
              <a:buClr>
                <a:schemeClr val="accent1"/>
              </a:buClr>
              <a:buSzPts val="1400"/>
              <a:buChar char="○"/>
            </a:pPr>
            <a:r>
              <a:rPr b="1" lang="en" sz="1600">
                <a:solidFill>
                  <a:schemeClr val="accent1"/>
                </a:solidFill>
                <a:latin typeface="Courier New"/>
                <a:ea typeface="Courier New"/>
                <a:cs typeface="Courier New"/>
                <a:sym typeface="Courier New"/>
              </a:rPr>
              <a:t>git clone https://github.com/robfatland/docker-workshop</a:t>
            </a:r>
            <a:endParaRPr b="1" sz="1600">
              <a:latin typeface="Courier New"/>
              <a:ea typeface="Courier New"/>
              <a:cs typeface="Courier New"/>
              <a:sym typeface="Courier New"/>
            </a:endParaRPr>
          </a:p>
          <a:p>
            <a:pPr indent="-342900" lvl="0" marL="457200" rtl="0" algn="l">
              <a:spcBef>
                <a:spcPts val="0"/>
              </a:spcBef>
              <a:spcAft>
                <a:spcPts val="0"/>
              </a:spcAft>
              <a:buSzPts val="1800"/>
              <a:buAutoNum type="arabicPeriod"/>
            </a:pPr>
            <a:r>
              <a:rPr lang="en"/>
              <a:t>Simplest possible Container–from–Dockerfile</a:t>
            </a:r>
            <a:endParaRPr/>
          </a:p>
          <a:p>
            <a:pPr indent="-342900" lvl="0" marL="457200" rtl="0" algn="l">
              <a:spcBef>
                <a:spcPts val="0"/>
              </a:spcBef>
              <a:spcAft>
                <a:spcPts val="0"/>
              </a:spcAft>
              <a:buSzPts val="1800"/>
              <a:buAutoNum type="arabicPeriod"/>
            </a:pPr>
            <a:r>
              <a:rPr lang="en"/>
              <a:t>Bind mount</a:t>
            </a:r>
            <a:endParaRPr/>
          </a:p>
          <a:p>
            <a:pPr indent="-342900" lvl="0" marL="457200" rtl="0" algn="l">
              <a:spcBef>
                <a:spcPts val="0"/>
              </a:spcBef>
              <a:spcAft>
                <a:spcPts val="0"/>
              </a:spcAft>
              <a:buSzPts val="1800"/>
              <a:buAutoNum type="arabicPeriod"/>
            </a:pPr>
            <a:r>
              <a:rPr lang="en"/>
              <a:t>Summary + Context</a:t>
            </a:r>
            <a:endParaRPr/>
          </a:p>
          <a:p>
            <a:pPr indent="-342900" lvl="0" marL="457200" rtl="0" algn="l">
              <a:spcBef>
                <a:spcPts val="0"/>
              </a:spcBef>
              <a:spcAft>
                <a:spcPts val="0"/>
              </a:spcAft>
              <a:buSzPts val="1800"/>
              <a:buAutoNum type="arabicPeriod"/>
            </a:pPr>
            <a:r>
              <a:rPr lang="en"/>
              <a:t>Build a Prime Checker web application on Localhost: C–C</a:t>
            </a:r>
            <a:endParaRPr/>
          </a:p>
          <a:p>
            <a:pPr indent="-342900" lvl="0" marL="457200" rtl="0" algn="l">
              <a:spcBef>
                <a:spcPts val="0"/>
              </a:spcBef>
              <a:spcAft>
                <a:spcPts val="0"/>
              </a:spcAft>
              <a:buSzPts val="1800"/>
              <a:buAutoNum type="arabicPeriod"/>
            </a:pPr>
            <a:r>
              <a:rPr lang="en"/>
              <a:t>Run ResNet-50 as a web app: From HuggingFace to Localhost</a:t>
            </a:r>
            <a:endParaRPr/>
          </a:p>
          <a:p>
            <a:pPr indent="-342900" lvl="0" marL="457200" rtl="0" algn="l">
              <a:spcBef>
                <a:spcPts val="0"/>
              </a:spcBef>
              <a:spcAft>
                <a:spcPts val="0"/>
              </a:spcAft>
              <a:buSzPts val="1800"/>
              <a:buAutoNum type="arabicPeriod"/>
            </a:pPr>
            <a:r>
              <a:rPr lang="en"/>
              <a:t>Summary + Conclusion</a:t>
            </a:r>
            <a:endParaRPr/>
          </a:p>
        </p:txBody>
      </p:sp>
      <p:sp>
        <p:nvSpPr>
          <p:cNvPr id="64" name="Google Shape;64;p14"/>
          <p:cNvSpPr txBox="1"/>
          <p:nvPr/>
        </p:nvSpPr>
        <p:spPr>
          <a:xfrm>
            <a:off x="4413000" y="102800"/>
            <a:ext cx="4643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latin typeface="Courier New"/>
                <a:ea typeface="Courier New"/>
                <a:cs typeface="Courier New"/>
                <a:sym typeface="Courier New"/>
              </a:rPr>
              <a:t>docker run hello-world</a:t>
            </a:r>
            <a:endParaRPr b="1" sz="1800">
              <a:solidFill>
                <a:schemeClr val="dk2"/>
              </a:solidFill>
              <a:latin typeface="Courier New"/>
              <a:ea typeface="Courier New"/>
              <a:cs typeface="Courier New"/>
              <a:sym typeface="Courier New"/>
            </a:endParaRPr>
          </a:p>
        </p:txBody>
      </p:sp>
      <p:sp>
        <p:nvSpPr>
          <p:cNvPr id="65" name="Google Shape;65;p14"/>
          <p:cNvSpPr/>
          <p:nvPr/>
        </p:nvSpPr>
        <p:spPr>
          <a:xfrm>
            <a:off x="4362150" y="116875"/>
            <a:ext cx="3360600" cy="4629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ctr">
              <a:lnSpc>
                <a:spcPct val="115000"/>
              </a:lnSpc>
              <a:spcBef>
                <a:spcPts val="0"/>
              </a:spcBef>
              <a:spcAft>
                <a:spcPts val="1200"/>
              </a:spcAft>
              <a:buNone/>
            </a:pPr>
            <a:r>
              <a:rPr lang="en" sz="2500">
                <a:solidFill>
                  <a:schemeClr val="dk2"/>
                </a:solidFill>
              </a:rPr>
              <a:t>Part 2. Clone the repo for this Docker Container workshop</a:t>
            </a:r>
            <a:endParaRPr sz="3600"/>
          </a:p>
        </p:txBody>
      </p:sp>
      <p:sp>
        <p:nvSpPr>
          <p:cNvPr id="71" name="Google Shape;71;p15"/>
          <p:cNvSpPr txBox="1"/>
          <p:nvPr>
            <p:ph idx="1" type="body"/>
          </p:nvPr>
        </p:nvSpPr>
        <p:spPr>
          <a:xfrm>
            <a:off x="311700" y="1395250"/>
            <a:ext cx="8520600" cy="3748200"/>
          </a:xfrm>
          <a:prstGeom prst="rect">
            <a:avLst/>
          </a:prstGeom>
        </p:spPr>
        <p:txBody>
          <a:bodyPr anchorCtr="0" anchor="t" bIns="91425" lIns="91425" spcFirstLastPara="1" rIns="91425" wrap="square" tIns="91425">
            <a:normAutofit fontScale="40000" lnSpcReduction="20000"/>
          </a:bodyPr>
          <a:lstStyle/>
          <a:p>
            <a:pPr indent="0" lvl="0" marL="0" rtl="0" algn="l">
              <a:spcBef>
                <a:spcPts val="0"/>
              </a:spcBef>
              <a:spcAft>
                <a:spcPts val="0"/>
              </a:spcAft>
              <a:buNone/>
            </a:pPr>
            <a:r>
              <a:rPr b="1" lang="en" sz="4700">
                <a:solidFill>
                  <a:schemeClr val="accent1"/>
                </a:solidFill>
                <a:latin typeface="Courier New"/>
                <a:ea typeface="Courier New"/>
                <a:cs typeface="Courier New"/>
                <a:sym typeface="Courier New"/>
              </a:rPr>
              <a:t>git clone https://github.com/robfatland/docker-workshop</a:t>
            </a:r>
            <a:endParaRPr b="1" sz="4700">
              <a:solidFill>
                <a:schemeClr val="accent1"/>
              </a:solidFill>
              <a:latin typeface="Courier New"/>
              <a:ea typeface="Courier New"/>
              <a:cs typeface="Courier New"/>
              <a:sym typeface="Courier New"/>
            </a:endParaRPr>
          </a:p>
          <a:p>
            <a:pPr indent="0" lvl="0" marL="0" rtl="0" algn="l">
              <a:spcBef>
                <a:spcPts val="1200"/>
              </a:spcBef>
              <a:spcAft>
                <a:spcPts val="0"/>
              </a:spcAft>
              <a:buClr>
                <a:schemeClr val="dk1"/>
              </a:buClr>
              <a:buSzPct val="64705"/>
              <a:buFont typeface="Arial"/>
              <a:buNone/>
            </a:pPr>
            <a:r>
              <a:t/>
            </a:r>
            <a:endParaRPr b="1" sz="1700">
              <a:latin typeface="Courier New"/>
              <a:ea typeface="Courier New"/>
              <a:cs typeface="Courier New"/>
              <a:sym typeface="Courier New"/>
            </a:endParaRPr>
          </a:p>
          <a:p>
            <a:pPr indent="0" lvl="0" marL="0" rtl="0" algn="l">
              <a:spcBef>
                <a:spcPts val="1200"/>
              </a:spcBef>
              <a:spcAft>
                <a:spcPts val="0"/>
              </a:spcAft>
              <a:buNone/>
            </a:pPr>
            <a:r>
              <a:rPr lang="en" sz="3797"/>
              <a:t>Clone this repository for localhost material; or you can simply visit the above website</a:t>
            </a:r>
            <a:endParaRPr sz="3797"/>
          </a:p>
          <a:p>
            <a:pPr indent="0" lvl="0" marL="0" rtl="0" algn="l">
              <a:spcBef>
                <a:spcPts val="1200"/>
              </a:spcBef>
              <a:spcAft>
                <a:spcPts val="0"/>
              </a:spcAft>
              <a:buNone/>
            </a:pPr>
            <a:r>
              <a:t/>
            </a:r>
            <a:endParaRPr sz="3797"/>
          </a:p>
          <a:p>
            <a:pPr indent="0" lvl="0" marL="0" rtl="0" algn="l">
              <a:spcBef>
                <a:spcPts val="1200"/>
              </a:spcBef>
              <a:spcAft>
                <a:spcPts val="0"/>
              </a:spcAft>
              <a:buNone/>
            </a:pPr>
            <a:r>
              <a:rPr lang="en" sz="3797"/>
              <a:t>The repo includes documents that go further into what why and how.</a:t>
            </a:r>
            <a:endParaRPr sz="3797"/>
          </a:p>
          <a:p>
            <a:pPr indent="-325057" lvl="0" marL="457200" rtl="0" algn="l">
              <a:spcBef>
                <a:spcPts val="1200"/>
              </a:spcBef>
              <a:spcAft>
                <a:spcPts val="0"/>
              </a:spcAft>
              <a:buSzPct val="100000"/>
              <a:buChar char="-"/>
            </a:pPr>
            <a:r>
              <a:rPr lang="en" sz="3797"/>
              <a:t>Workshop instructions: Follows this procedural</a:t>
            </a:r>
            <a:endParaRPr sz="3797"/>
          </a:p>
          <a:p>
            <a:pPr indent="-325057" lvl="0" marL="457200" rtl="0" algn="l">
              <a:spcBef>
                <a:spcPts val="0"/>
              </a:spcBef>
              <a:spcAft>
                <a:spcPts val="0"/>
              </a:spcAft>
              <a:buSzPct val="100000"/>
              <a:buChar char="-"/>
            </a:pPr>
            <a:r>
              <a:rPr lang="en" sz="3797"/>
              <a:t>Docker Q&amp;A: Learning by asking questions</a:t>
            </a:r>
            <a:endParaRPr sz="3797"/>
          </a:p>
          <a:p>
            <a:pPr indent="-325057" lvl="0" marL="457200" rtl="0" algn="l">
              <a:spcBef>
                <a:spcPts val="0"/>
              </a:spcBef>
              <a:spcAft>
                <a:spcPts val="0"/>
              </a:spcAft>
              <a:buSzPct val="100000"/>
              <a:buChar char="-"/>
            </a:pPr>
            <a:r>
              <a:rPr lang="en" sz="3797"/>
              <a:t>Docker Reference: Learning by reading themes (includes a K-means walkthrough)</a:t>
            </a:r>
            <a:endParaRPr sz="3797"/>
          </a:p>
          <a:p>
            <a:pPr indent="-325057" lvl="0" marL="457200" rtl="0" algn="l">
              <a:spcBef>
                <a:spcPts val="0"/>
              </a:spcBef>
              <a:spcAft>
                <a:spcPts val="0"/>
              </a:spcAft>
              <a:buSzPct val="100000"/>
              <a:buChar char="-"/>
            </a:pPr>
            <a:r>
              <a:rPr lang="en" sz="3797"/>
              <a:t>This Google Slides deck as a pdf</a:t>
            </a:r>
            <a:endParaRPr sz="3797"/>
          </a:p>
          <a:p>
            <a:pPr indent="0" lvl="0" marL="0" rtl="0" algn="l">
              <a:spcBef>
                <a:spcPts val="1200"/>
              </a:spcBef>
              <a:spcAft>
                <a:spcPts val="0"/>
              </a:spcAft>
              <a:buNone/>
            </a:pPr>
            <a:r>
              <a:t/>
            </a:r>
            <a:endParaRPr sz="3797"/>
          </a:p>
          <a:p>
            <a:pPr indent="0" lvl="0" marL="0" rtl="0" algn="l">
              <a:spcBef>
                <a:spcPts val="1200"/>
              </a:spcBef>
              <a:spcAft>
                <a:spcPts val="1200"/>
              </a:spcAft>
              <a:buNone/>
            </a:pPr>
            <a:r>
              <a:rPr lang="en" sz="3797"/>
              <a:t>The repo includes three project folders used later in the workshop</a:t>
            </a:r>
            <a:endParaRPr sz="3797"/>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6"/>
          <p:cNvSpPr txBox="1"/>
          <p:nvPr>
            <p:ph type="title"/>
          </p:nvPr>
        </p:nvSpPr>
        <p:spPr>
          <a:xfrm>
            <a:off x="311700" y="17950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Part 3. Dockerfile (No actions for this slide)</a:t>
            </a:r>
            <a:endParaRPr/>
          </a:p>
        </p:txBody>
      </p:sp>
      <p:sp>
        <p:nvSpPr>
          <p:cNvPr id="77" name="Google Shape;77;p16"/>
          <p:cNvSpPr txBox="1"/>
          <p:nvPr>
            <p:ph idx="1" type="body"/>
          </p:nvPr>
        </p:nvSpPr>
        <p:spPr>
          <a:xfrm>
            <a:off x="311700" y="902125"/>
            <a:ext cx="8520600" cy="3990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chemeClr val="accent1"/>
                </a:solidFill>
                <a:latin typeface="Courier New"/>
                <a:ea typeface="Courier New"/>
                <a:cs typeface="Courier New"/>
                <a:sym typeface="Courier New"/>
              </a:rPr>
              <a:t>FROM python:3.11-slim</a:t>
            </a:r>
            <a:endParaRPr b="1">
              <a:solidFill>
                <a:schemeClr val="accent1"/>
              </a:solidFill>
              <a:latin typeface="Courier New"/>
              <a:ea typeface="Courier New"/>
              <a:cs typeface="Courier New"/>
              <a:sym typeface="Courier New"/>
            </a:endParaRPr>
          </a:p>
          <a:p>
            <a:pPr indent="-342900" lvl="0" marL="457200" rtl="0" algn="l">
              <a:spcBef>
                <a:spcPts val="1200"/>
              </a:spcBef>
              <a:spcAft>
                <a:spcPts val="0"/>
              </a:spcAft>
              <a:buSzPts val="1800"/>
              <a:buChar char="-"/>
            </a:pPr>
            <a:r>
              <a:rPr lang="en"/>
              <a:t>This</a:t>
            </a:r>
            <a:r>
              <a:rPr lang="en"/>
              <a:t> single line of text is the simplest possible </a:t>
            </a:r>
            <a:r>
              <a:rPr b="1" lang="en">
                <a:latin typeface="Courier New"/>
                <a:ea typeface="Courier New"/>
                <a:cs typeface="Courier New"/>
                <a:sym typeface="Courier New"/>
              </a:rPr>
              <a:t>Dockerfile</a:t>
            </a:r>
            <a:endParaRPr b="1">
              <a:latin typeface="Courier New"/>
              <a:ea typeface="Courier New"/>
              <a:cs typeface="Courier New"/>
              <a:sym typeface="Courier New"/>
            </a:endParaRPr>
          </a:p>
          <a:p>
            <a:pPr indent="-342900" lvl="0" marL="457200" rtl="0" algn="l">
              <a:spcBef>
                <a:spcPts val="0"/>
              </a:spcBef>
              <a:spcAft>
                <a:spcPts val="0"/>
              </a:spcAft>
              <a:buSzPts val="1800"/>
              <a:buChar char="-"/>
            </a:pPr>
            <a:r>
              <a:rPr lang="en"/>
              <a:t>python:3.11-slim is an existing image</a:t>
            </a:r>
            <a:endParaRPr/>
          </a:p>
          <a:p>
            <a:pPr indent="-317500" lvl="1" marL="914400" rtl="0" algn="l">
              <a:spcBef>
                <a:spcPts val="0"/>
              </a:spcBef>
              <a:spcAft>
                <a:spcPts val="0"/>
              </a:spcAft>
              <a:buSzPts val="1400"/>
              <a:buChar char="-"/>
            </a:pPr>
            <a:r>
              <a:rPr lang="en"/>
              <a:t>Implicitly Debian Linux comes along for the ride</a:t>
            </a:r>
            <a:endParaRPr/>
          </a:p>
          <a:p>
            <a:pPr indent="-317500" lvl="2" marL="1371600" rtl="0" algn="l">
              <a:spcBef>
                <a:spcPts val="0"/>
              </a:spcBef>
              <a:spcAft>
                <a:spcPts val="0"/>
              </a:spcAft>
              <a:buSzPts val="1400"/>
              <a:buChar char="-"/>
            </a:pPr>
            <a:r>
              <a:rPr lang="en"/>
              <a:t>Ubuntu is based on Debian</a:t>
            </a:r>
            <a:endParaRPr/>
          </a:p>
          <a:p>
            <a:pPr indent="-342900" lvl="0" marL="457200" rtl="0" algn="l">
              <a:spcBef>
                <a:spcPts val="0"/>
              </a:spcBef>
              <a:spcAft>
                <a:spcPts val="0"/>
              </a:spcAft>
              <a:buSzPts val="1800"/>
              <a:buChar char="-"/>
            </a:pPr>
            <a:r>
              <a:rPr b="1" lang="en">
                <a:solidFill>
                  <a:schemeClr val="accent1"/>
                </a:solidFill>
                <a:latin typeface="Courier New"/>
                <a:ea typeface="Courier New"/>
                <a:cs typeface="Courier New"/>
                <a:sym typeface="Courier New"/>
              </a:rPr>
              <a:t>-slim</a:t>
            </a:r>
            <a:r>
              <a:rPr lang="en"/>
              <a:t> is a smaller/faster-to-load version of Python (with no C compiler)</a:t>
            </a:r>
            <a:endParaRPr/>
          </a:p>
          <a:p>
            <a:pPr indent="-342900" lvl="0" marL="457200" rtl="0" algn="l">
              <a:spcBef>
                <a:spcPts val="0"/>
              </a:spcBef>
              <a:spcAft>
                <a:spcPts val="0"/>
              </a:spcAft>
              <a:buSzPts val="1800"/>
              <a:buChar char="-"/>
            </a:pPr>
            <a:r>
              <a:rPr lang="en"/>
              <a:t>Version number of Python (</a:t>
            </a:r>
            <a:r>
              <a:rPr lang="en">
                <a:solidFill>
                  <a:schemeClr val="accent1"/>
                </a:solidFill>
              </a:rPr>
              <a:t>3.11</a:t>
            </a:r>
            <a:r>
              <a:rPr lang="en"/>
              <a:t>): Compatibility, stability</a:t>
            </a:r>
            <a:endParaRPr/>
          </a:p>
          <a:p>
            <a:pPr indent="-317500" lvl="1" marL="914400" rtl="0" algn="l">
              <a:spcBef>
                <a:spcPts val="0"/>
              </a:spcBef>
              <a:spcAft>
                <a:spcPts val="0"/>
              </a:spcAft>
              <a:buSzPts val="1400"/>
              <a:buChar char="-"/>
            </a:pPr>
            <a:r>
              <a:rPr lang="en"/>
              <a:t>For example: Run </a:t>
            </a:r>
            <a:r>
              <a:rPr b="1" lang="en" sz="1800">
                <a:latin typeface="Courier New"/>
                <a:ea typeface="Courier New"/>
                <a:cs typeface="Courier New"/>
                <a:sym typeface="Courier New"/>
              </a:rPr>
              <a:t>python --version</a:t>
            </a:r>
            <a:r>
              <a:rPr lang="en"/>
              <a:t> </a:t>
            </a:r>
            <a:endParaRPr/>
          </a:p>
          <a:p>
            <a:pPr indent="-342900" lvl="0" marL="457200" rtl="0" algn="l">
              <a:spcBef>
                <a:spcPts val="0"/>
              </a:spcBef>
              <a:spcAft>
                <a:spcPts val="0"/>
              </a:spcAft>
              <a:buSzPts val="1800"/>
              <a:buChar char="-"/>
            </a:pPr>
            <a:r>
              <a:rPr lang="en"/>
              <a:t>Put this </a:t>
            </a:r>
            <a:r>
              <a:rPr b="1" lang="en">
                <a:latin typeface="Courier New"/>
                <a:ea typeface="Courier New"/>
                <a:cs typeface="Courier New"/>
                <a:sym typeface="Courier New"/>
              </a:rPr>
              <a:t>Dockerfile </a:t>
            </a:r>
            <a:r>
              <a:rPr lang="en"/>
              <a:t>in project folder</a:t>
            </a:r>
            <a:r>
              <a:rPr b="1" lang="en">
                <a:latin typeface="Courier New"/>
                <a:ea typeface="Courier New"/>
                <a:cs typeface="Courier New"/>
                <a:sym typeface="Courier New"/>
              </a:rPr>
              <a:t> /fu </a:t>
            </a:r>
            <a:r>
              <a:rPr lang="en"/>
              <a:t>to work:</a:t>
            </a:r>
            <a:endParaRPr/>
          </a:p>
          <a:p>
            <a:pPr indent="-317500" lvl="1" marL="914400" rtl="0" algn="l">
              <a:spcBef>
                <a:spcPts val="0"/>
              </a:spcBef>
              <a:spcAft>
                <a:spcPts val="0"/>
              </a:spcAft>
              <a:buSzPts val="1400"/>
              <a:buChar char="-"/>
            </a:pPr>
            <a:r>
              <a:rPr lang="en"/>
              <a:t>Use </a:t>
            </a:r>
            <a:r>
              <a:rPr b="1" lang="en">
                <a:latin typeface="Courier New"/>
                <a:ea typeface="Courier New"/>
                <a:cs typeface="Courier New"/>
                <a:sym typeface="Courier New"/>
              </a:rPr>
              <a:t>docker build</a:t>
            </a:r>
            <a:r>
              <a:rPr lang="en"/>
              <a:t> to build a corresponding Image</a:t>
            </a:r>
            <a:endParaRPr/>
          </a:p>
          <a:p>
            <a:pPr indent="-317500" lvl="1" marL="914400" rtl="0" algn="l">
              <a:spcBef>
                <a:spcPts val="0"/>
              </a:spcBef>
              <a:spcAft>
                <a:spcPts val="0"/>
              </a:spcAft>
              <a:buSzPts val="1400"/>
              <a:buChar char="-"/>
            </a:pPr>
            <a:r>
              <a:rPr lang="en"/>
              <a:t>Use </a:t>
            </a:r>
            <a:r>
              <a:rPr b="1" lang="en">
                <a:latin typeface="Courier New"/>
                <a:ea typeface="Courier New"/>
                <a:cs typeface="Courier New"/>
                <a:sym typeface="Courier New"/>
              </a:rPr>
              <a:t>docker run</a:t>
            </a:r>
            <a:r>
              <a:rPr lang="en"/>
              <a:t> to create the corresponding Container and run it</a:t>
            </a:r>
            <a:endParaRPr/>
          </a:p>
          <a:p>
            <a:pPr indent="-317500" lvl="1" marL="914400" rtl="0" algn="l">
              <a:spcBef>
                <a:spcPts val="0"/>
              </a:spcBef>
              <a:spcAft>
                <a:spcPts val="0"/>
              </a:spcAft>
              <a:buSzPts val="1400"/>
              <a:buChar char="-"/>
            </a:pPr>
            <a:r>
              <a:rPr lang="en"/>
              <a:t>After we verify it is ok: Delete everything except the </a:t>
            </a:r>
            <a:r>
              <a:rPr b="1" lang="en">
                <a:latin typeface="Courier New"/>
                <a:ea typeface="Courier New"/>
                <a:cs typeface="Courier New"/>
                <a:sym typeface="Courier New"/>
              </a:rPr>
              <a:t>Dockerfile</a:t>
            </a:r>
            <a:endParaRPr b="1">
              <a:latin typeface="Courier New"/>
              <a:ea typeface="Courier New"/>
              <a:cs typeface="Courier New"/>
              <a:sym typeface="Courier New"/>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ph type="title"/>
          </p:nvPr>
        </p:nvSpPr>
        <p:spPr>
          <a:xfrm>
            <a:off x="311700" y="17950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Part 3. Dockerfile: Run these!</a:t>
            </a:r>
            <a:endParaRPr/>
          </a:p>
        </p:txBody>
      </p:sp>
      <p:sp>
        <p:nvSpPr>
          <p:cNvPr id="83" name="Google Shape;83;p17"/>
          <p:cNvSpPr txBox="1"/>
          <p:nvPr>
            <p:ph idx="1" type="body"/>
          </p:nvPr>
        </p:nvSpPr>
        <p:spPr>
          <a:xfrm>
            <a:off x="311700" y="902125"/>
            <a:ext cx="8520600" cy="3990900"/>
          </a:xfrm>
          <a:prstGeom prst="rect">
            <a:avLst/>
          </a:prstGeom>
        </p:spPr>
        <p:txBody>
          <a:bodyPr anchorCtr="0" anchor="t" bIns="91425" lIns="91425" spcFirstLastPara="1" rIns="91425" wrap="square" tIns="91425">
            <a:normAutofit fontScale="92500" lnSpcReduction="20000"/>
          </a:bodyPr>
          <a:lstStyle/>
          <a:p>
            <a:pPr indent="-334327" lvl="0" marL="457200" rtl="0" algn="l">
              <a:spcBef>
                <a:spcPts val="0"/>
              </a:spcBef>
              <a:spcAft>
                <a:spcPts val="0"/>
              </a:spcAft>
              <a:buSzPct val="100000"/>
              <a:buFont typeface="Courier New"/>
              <a:buChar char="-"/>
            </a:pPr>
            <a:r>
              <a:rPr b="1" lang="en">
                <a:latin typeface="Courier New"/>
                <a:ea typeface="Courier New"/>
                <a:cs typeface="Courier New"/>
                <a:sym typeface="Courier New"/>
              </a:rPr>
              <a:t>cd ~ </a:t>
            </a:r>
            <a:endParaRPr b="1">
              <a:latin typeface="Courier New"/>
              <a:ea typeface="Courier New"/>
              <a:cs typeface="Courier New"/>
              <a:sym typeface="Courier New"/>
            </a:endParaRPr>
          </a:p>
          <a:p>
            <a:pPr indent="-334327" lvl="0" marL="457200" rtl="0" algn="l">
              <a:spcBef>
                <a:spcPts val="0"/>
              </a:spcBef>
              <a:spcAft>
                <a:spcPts val="0"/>
              </a:spcAft>
              <a:buSzPct val="100000"/>
              <a:buFont typeface="Courier New"/>
              <a:buChar char="-"/>
            </a:pPr>
            <a:r>
              <a:rPr b="1" lang="en">
                <a:latin typeface="Courier New"/>
                <a:ea typeface="Courier New"/>
                <a:cs typeface="Courier New"/>
                <a:sym typeface="Courier New"/>
              </a:rPr>
              <a:t>mkdir fu </a:t>
            </a:r>
            <a:endParaRPr b="1">
              <a:latin typeface="Courier New"/>
              <a:ea typeface="Courier New"/>
              <a:cs typeface="Courier New"/>
              <a:sym typeface="Courier New"/>
            </a:endParaRPr>
          </a:p>
          <a:p>
            <a:pPr indent="-334327" lvl="0" marL="457200" rtl="0" algn="l">
              <a:spcBef>
                <a:spcPts val="0"/>
              </a:spcBef>
              <a:spcAft>
                <a:spcPts val="0"/>
              </a:spcAft>
              <a:buSzPct val="100000"/>
              <a:buFont typeface="Courier New"/>
              <a:buChar char="-"/>
            </a:pPr>
            <a:r>
              <a:rPr b="1" lang="en">
                <a:latin typeface="Courier New"/>
                <a:ea typeface="Courier New"/>
                <a:cs typeface="Courier New"/>
                <a:sym typeface="Courier New"/>
              </a:rPr>
              <a:t>echo FROM python:3.11-slim &gt; ~/fu/Dockerfile</a:t>
            </a:r>
            <a:endParaRPr b="1">
              <a:latin typeface="Courier New"/>
              <a:ea typeface="Courier New"/>
              <a:cs typeface="Courier New"/>
              <a:sym typeface="Courier New"/>
            </a:endParaRPr>
          </a:p>
          <a:p>
            <a:pPr indent="-334327" lvl="0" marL="457200" rtl="0" algn="l">
              <a:spcBef>
                <a:spcPts val="0"/>
              </a:spcBef>
              <a:spcAft>
                <a:spcPts val="0"/>
              </a:spcAft>
              <a:buSzPct val="100000"/>
              <a:buFont typeface="Courier New"/>
              <a:buChar char="-"/>
            </a:pPr>
            <a:r>
              <a:rPr b="1" lang="en">
                <a:latin typeface="Courier New"/>
                <a:ea typeface="Courier New"/>
                <a:cs typeface="Courier New"/>
                <a:sym typeface="Courier New"/>
              </a:rPr>
              <a:t>cd ~/fu &amp;&amp; ls</a:t>
            </a:r>
            <a:endParaRPr b="1">
              <a:latin typeface="Courier New"/>
              <a:ea typeface="Courier New"/>
              <a:cs typeface="Courier New"/>
              <a:sym typeface="Courier New"/>
            </a:endParaRPr>
          </a:p>
          <a:p>
            <a:pPr indent="-334327" lvl="0" marL="457200" rtl="0" algn="l">
              <a:spcBef>
                <a:spcPts val="0"/>
              </a:spcBef>
              <a:spcAft>
                <a:spcPts val="0"/>
              </a:spcAft>
              <a:buSzPct val="100000"/>
              <a:buFont typeface="Courier New"/>
              <a:buChar char="-"/>
            </a:pPr>
            <a:r>
              <a:rPr b="1" lang="en">
                <a:latin typeface="Courier New"/>
                <a:ea typeface="Courier New"/>
                <a:cs typeface="Courier New"/>
                <a:sym typeface="Courier New"/>
              </a:rPr>
              <a:t>docker build -t fu-image .</a:t>
            </a:r>
            <a:endParaRPr b="1">
              <a:latin typeface="Courier New"/>
              <a:ea typeface="Courier New"/>
              <a:cs typeface="Courier New"/>
              <a:sym typeface="Courier New"/>
            </a:endParaRPr>
          </a:p>
          <a:p>
            <a:pPr indent="-334327" lvl="0" marL="457200" rtl="0" algn="l">
              <a:spcBef>
                <a:spcPts val="0"/>
              </a:spcBef>
              <a:spcAft>
                <a:spcPts val="0"/>
              </a:spcAft>
              <a:buSzPct val="100000"/>
              <a:buFont typeface="Courier New"/>
              <a:buChar char="-"/>
            </a:pPr>
            <a:r>
              <a:rPr b="1" lang="en">
                <a:latin typeface="Courier New"/>
                <a:ea typeface="Courier New"/>
                <a:cs typeface="Courier New"/>
                <a:sym typeface="Courier New"/>
              </a:rPr>
              <a:t>docker images</a:t>
            </a:r>
            <a:endParaRPr b="1">
              <a:latin typeface="Courier New"/>
              <a:ea typeface="Courier New"/>
              <a:cs typeface="Courier New"/>
              <a:sym typeface="Courier New"/>
            </a:endParaRPr>
          </a:p>
          <a:p>
            <a:pPr indent="-334327" lvl="0" marL="457200" rtl="0" algn="l">
              <a:spcBef>
                <a:spcPts val="0"/>
              </a:spcBef>
              <a:spcAft>
                <a:spcPts val="0"/>
              </a:spcAft>
              <a:buSzPct val="100000"/>
              <a:buFont typeface="Courier New"/>
              <a:buChar char="-"/>
            </a:pPr>
            <a:r>
              <a:rPr b="1" lang="en">
                <a:latin typeface="Courier New"/>
                <a:ea typeface="Courier New"/>
                <a:cs typeface="Courier New"/>
                <a:sym typeface="Courier New"/>
              </a:rPr>
              <a:t>docker ps -a</a:t>
            </a:r>
            <a:endParaRPr b="1">
              <a:latin typeface="Courier New"/>
              <a:ea typeface="Courier New"/>
              <a:cs typeface="Courier New"/>
              <a:sym typeface="Courier New"/>
            </a:endParaRPr>
          </a:p>
          <a:p>
            <a:pPr indent="-334327" lvl="0" marL="457200" rtl="0" algn="l">
              <a:spcBef>
                <a:spcPts val="0"/>
              </a:spcBef>
              <a:spcAft>
                <a:spcPts val="0"/>
              </a:spcAft>
              <a:buSzPct val="100000"/>
              <a:buFont typeface="Courier New"/>
              <a:buChar char="-"/>
            </a:pPr>
            <a:r>
              <a:rPr b="1" lang="en">
                <a:latin typeface="Courier New"/>
                <a:ea typeface="Courier New"/>
                <a:cs typeface="Courier New"/>
                <a:sym typeface="Courier New"/>
              </a:rPr>
              <a:t>docker run -it fu-image bash</a:t>
            </a:r>
            <a:endParaRPr/>
          </a:p>
          <a:p>
            <a:pPr indent="-321627" lvl="0" marL="457200" rtl="0" algn="l">
              <a:spcBef>
                <a:spcPts val="0"/>
              </a:spcBef>
              <a:spcAft>
                <a:spcPts val="0"/>
              </a:spcAft>
              <a:buSzPct val="100000"/>
              <a:buFont typeface="Courier New"/>
              <a:buChar char="-"/>
            </a:pPr>
            <a:r>
              <a:rPr lang="en" sz="1583"/>
              <a:t>&lt;In the Container terminal: Try some Linux, run Python… then </a:t>
            </a:r>
            <a:r>
              <a:rPr b="1" lang="en" sz="1583">
                <a:latin typeface="Courier New"/>
                <a:ea typeface="Courier New"/>
                <a:cs typeface="Courier New"/>
                <a:sym typeface="Courier New"/>
              </a:rPr>
              <a:t>quit()</a:t>
            </a:r>
            <a:r>
              <a:rPr lang="en" sz="1583"/>
              <a:t> and</a:t>
            </a:r>
            <a:r>
              <a:rPr b="1" lang="en" sz="1583">
                <a:latin typeface="Courier New"/>
                <a:ea typeface="Courier New"/>
                <a:cs typeface="Courier New"/>
                <a:sym typeface="Courier New"/>
              </a:rPr>
              <a:t> exit</a:t>
            </a:r>
            <a:endParaRPr b="1" sz="1583">
              <a:latin typeface="Courier New"/>
              <a:ea typeface="Courier New"/>
              <a:cs typeface="Courier New"/>
              <a:sym typeface="Courier New"/>
            </a:endParaRPr>
          </a:p>
          <a:p>
            <a:pPr indent="-334327" lvl="0" marL="457200" rtl="0" algn="l">
              <a:spcBef>
                <a:spcPts val="0"/>
              </a:spcBef>
              <a:spcAft>
                <a:spcPts val="0"/>
              </a:spcAft>
              <a:buSzPct val="100000"/>
              <a:buFont typeface="Courier New"/>
              <a:buChar char="-"/>
            </a:pPr>
            <a:r>
              <a:rPr b="1" lang="en">
                <a:latin typeface="Courier New"/>
                <a:ea typeface="Courier New"/>
                <a:cs typeface="Courier New"/>
                <a:sym typeface="Courier New"/>
              </a:rPr>
              <a:t>docker ps -a</a:t>
            </a:r>
            <a:endParaRPr b="1">
              <a:latin typeface="Courier New"/>
              <a:ea typeface="Courier New"/>
              <a:cs typeface="Courier New"/>
              <a:sym typeface="Courier New"/>
            </a:endParaRPr>
          </a:p>
          <a:p>
            <a:pPr indent="-334327" lvl="0" marL="457200" rtl="0" algn="l">
              <a:spcBef>
                <a:spcPts val="0"/>
              </a:spcBef>
              <a:spcAft>
                <a:spcPts val="0"/>
              </a:spcAft>
              <a:buSzPct val="100000"/>
              <a:buFont typeface="Courier New"/>
              <a:buChar char="-"/>
            </a:pPr>
            <a:r>
              <a:rPr b="1" lang="en">
                <a:latin typeface="Courier New"/>
                <a:ea typeface="Courier New"/>
                <a:cs typeface="Courier New"/>
                <a:sym typeface="Courier New"/>
              </a:rPr>
              <a:t>docker container prune</a:t>
            </a:r>
            <a:endParaRPr b="1">
              <a:latin typeface="Courier New"/>
              <a:ea typeface="Courier New"/>
              <a:cs typeface="Courier New"/>
              <a:sym typeface="Courier New"/>
            </a:endParaRPr>
          </a:p>
          <a:p>
            <a:pPr indent="-334327" lvl="0" marL="457200" rtl="0" algn="l">
              <a:spcBef>
                <a:spcPts val="0"/>
              </a:spcBef>
              <a:spcAft>
                <a:spcPts val="0"/>
              </a:spcAft>
              <a:buSzPct val="100000"/>
              <a:buFont typeface="Courier New"/>
              <a:buChar char="-"/>
            </a:pPr>
            <a:r>
              <a:rPr b="1" lang="en">
                <a:latin typeface="Courier New"/>
                <a:ea typeface="Courier New"/>
                <a:cs typeface="Courier New"/>
                <a:sym typeface="Courier New"/>
              </a:rPr>
              <a:t>docker ps -a</a:t>
            </a:r>
            <a:endParaRPr b="1">
              <a:latin typeface="Courier New"/>
              <a:ea typeface="Courier New"/>
              <a:cs typeface="Courier New"/>
              <a:sym typeface="Courier New"/>
            </a:endParaRPr>
          </a:p>
          <a:p>
            <a:pPr indent="-334327" lvl="0" marL="457200" rtl="0" algn="l">
              <a:spcBef>
                <a:spcPts val="0"/>
              </a:spcBef>
              <a:spcAft>
                <a:spcPts val="0"/>
              </a:spcAft>
              <a:buSzPct val="100000"/>
              <a:buFont typeface="Courier New"/>
              <a:buChar char="-"/>
            </a:pPr>
            <a:r>
              <a:rPr b="1" lang="en">
                <a:latin typeface="Courier New"/>
                <a:ea typeface="Courier New"/>
                <a:cs typeface="Courier New"/>
                <a:sym typeface="Courier New"/>
              </a:rPr>
              <a:t>docker images</a:t>
            </a:r>
            <a:endParaRPr b="1">
              <a:latin typeface="Courier New"/>
              <a:ea typeface="Courier New"/>
              <a:cs typeface="Courier New"/>
              <a:sym typeface="Courier New"/>
            </a:endParaRPr>
          </a:p>
          <a:p>
            <a:pPr indent="-334327" lvl="0" marL="457200" rtl="0" algn="l">
              <a:spcBef>
                <a:spcPts val="0"/>
              </a:spcBef>
              <a:spcAft>
                <a:spcPts val="0"/>
              </a:spcAft>
              <a:buSzPct val="100000"/>
              <a:buFont typeface="Courier New"/>
              <a:buChar char="-"/>
            </a:pPr>
            <a:r>
              <a:rPr b="1" lang="en">
                <a:latin typeface="Courier New"/>
                <a:ea typeface="Courier New"/>
                <a:cs typeface="Courier New"/>
                <a:sym typeface="Courier New"/>
              </a:rPr>
              <a:t>docker rmi fu-image</a:t>
            </a:r>
            <a:endParaRPr b="1">
              <a:latin typeface="Courier New"/>
              <a:ea typeface="Courier New"/>
              <a:cs typeface="Courier New"/>
              <a:sym typeface="Courier New"/>
            </a:endParaRPr>
          </a:p>
          <a:p>
            <a:pPr indent="-334327" lvl="0" marL="457200" rtl="0" algn="l">
              <a:spcBef>
                <a:spcPts val="0"/>
              </a:spcBef>
              <a:spcAft>
                <a:spcPts val="0"/>
              </a:spcAft>
              <a:buSzPct val="100000"/>
              <a:buFont typeface="Courier New"/>
              <a:buChar char="-"/>
            </a:pPr>
            <a:r>
              <a:rPr b="1" lang="en">
                <a:latin typeface="Courier New"/>
                <a:ea typeface="Courier New"/>
                <a:cs typeface="Courier New"/>
                <a:sym typeface="Courier New"/>
              </a:rPr>
              <a:t>docker images</a:t>
            </a:r>
            <a:endParaRPr b="1">
              <a:latin typeface="Courier New"/>
              <a:ea typeface="Courier New"/>
              <a:cs typeface="Courier New"/>
              <a:sym typeface="Courier New"/>
            </a:endParaRPr>
          </a:p>
        </p:txBody>
      </p:sp>
      <p:sp>
        <p:nvSpPr>
          <p:cNvPr id="84" name="Google Shape;84;p17"/>
          <p:cNvSpPr txBox="1"/>
          <p:nvPr/>
        </p:nvSpPr>
        <p:spPr>
          <a:xfrm rot="-807732">
            <a:off x="7047660" y="1255375"/>
            <a:ext cx="1873682" cy="3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FF0000"/>
                </a:solidFill>
              </a:rPr>
              <a:t>notice period at the end</a:t>
            </a:r>
            <a:endParaRPr sz="1200">
              <a:solidFill>
                <a:srgbClr val="FF0000"/>
              </a:solidFill>
            </a:endParaRPr>
          </a:p>
        </p:txBody>
      </p:sp>
      <p:cxnSp>
        <p:nvCxnSpPr>
          <p:cNvPr id="85" name="Google Shape;85;p17"/>
          <p:cNvCxnSpPr>
            <a:stCxn id="84" idx="1"/>
          </p:cNvCxnSpPr>
          <p:nvPr/>
        </p:nvCxnSpPr>
        <p:spPr>
          <a:xfrm flipH="1">
            <a:off x="4233301" y="1658224"/>
            <a:ext cx="2840100" cy="453900"/>
          </a:xfrm>
          <a:prstGeom prst="straightConnector1">
            <a:avLst/>
          </a:prstGeom>
          <a:noFill/>
          <a:ln cap="flat" cmpd="sng" w="9525">
            <a:solidFill>
              <a:srgbClr val="FF0000"/>
            </a:solidFill>
            <a:prstDash val="solid"/>
            <a:round/>
            <a:headEnd len="med" w="med" type="none"/>
            <a:tailEnd len="med" w="med" type="triangle"/>
          </a:ln>
        </p:spPr>
      </p:cxnSp>
      <p:sp>
        <p:nvSpPr>
          <p:cNvPr id="86" name="Google Shape;86;p17"/>
          <p:cNvSpPr/>
          <p:nvPr/>
        </p:nvSpPr>
        <p:spPr>
          <a:xfrm>
            <a:off x="2458025" y="1952775"/>
            <a:ext cx="379200" cy="2730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 name="Google Shape;87;p17"/>
          <p:cNvSpPr/>
          <p:nvPr/>
        </p:nvSpPr>
        <p:spPr>
          <a:xfrm>
            <a:off x="2276625" y="2658575"/>
            <a:ext cx="454500" cy="3183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8"/>
          <p:cNvSpPr txBox="1"/>
          <p:nvPr>
            <p:ph type="title"/>
          </p:nvPr>
        </p:nvSpPr>
        <p:spPr>
          <a:xfrm>
            <a:off x="311700" y="9605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Part 3. Dockerfile sequence 2: Run these!</a:t>
            </a:r>
            <a:endParaRPr/>
          </a:p>
        </p:txBody>
      </p:sp>
      <p:sp>
        <p:nvSpPr>
          <p:cNvPr id="93" name="Google Shape;93;p18"/>
          <p:cNvSpPr txBox="1"/>
          <p:nvPr>
            <p:ph idx="1" type="body"/>
          </p:nvPr>
        </p:nvSpPr>
        <p:spPr>
          <a:xfrm>
            <a:off x="311700" y="668750"/>
            <a:ext cx="8520600" cy="45081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lang="en"/>
              <a:t>Repeat with a difference: Create an artifact during the visit to the Container; then leave; then go back: Still there?</a:t>
            </a:r>
            <a:endParaRPr/>
          </a:p>
          <a:p>
            <a:pPr indent="-308610" lvl="0" marL="457200" rtl="0" algn="l">
              <a:spcBef>
                <a:spcPts val="1200"/>
              </a:spcBef>
              <a:spcAft>
                <a:spcPts val="0"/>
              </a:spcAft>
              <a:buSzPct val="100000"/>
              <a:buFont typeface="Courier New"/>
              <a:buChar char="-"/>
            </a:pPr>
            <a:r>
              <a:rPr b="1" lang="en">
                <a:latin typeface="Courier New"/>
                <a:ea typeface="Courier New"/>
                <a:cs typeface="Courier New"/>
                <a:sym typeface="Courier New"/>
              </a:rPr>
              <a:t>cd ~/fu</a:t>
            </a:r>
            <a:endParaRPr b="1">
              <a:latin typeface="Courier New"/>
              <a:ea typeface="Courier New"/>
              <a:cs typeface="Courier New"/>
              <a:sym typeface="Courier New"/>
            </a:endParaRPr>
          </a:p>
          <a:p>
            <a:pPr indent="-308610" lvl="0" marL="457200" rtl="0" algn="l">
              <a:spcBef>
                <a:spcPts val="0"/>
              </a:spcBef>
              <a:spcAft>
                <a:spcPts val="0"/>
              </a:spcAft>
              <a:buSzPct val="100000"/>
              <a:buFont typeface="Courier New"/>
              <a:buChar char="-"/>
            </a:pPr>
            <a:r>
              <a:rPr b="1" lang="en">
                <a:latin typeface="Courier New"/>
                <a:ea typeface="Courier New"/>
                <a:cs typeface="Courier New"/>
                <a:sym typeface="Courier New"/>
              </a:rPr>
              <a:t>docker build -t fu-image .</a:t>
            </a:r>
            <a:endParaRPr b="1">
              <a:latin typeface="Courier New"/>
              <a:ea typeface="Courier New"/>
              <a:cs typeface="Courier New"/>
              <a:sym typeface="Courier New"/>
            </a:endParaRPr>
          </a:p>
          <a:p>
            <a:pPr indent="-308610" lvl="0" marL="457200" rtl="0" algn="l">
              <a:spcBef>
                <a:spcPts val="0"/>
              </a:spcBef>
              <a:spcAft>
                <a:spcPts val="0"/>
              </a:spcAft>
              <a:buSzPct val="100000"/>
              <a:buFont typeface="Courier New"/>
              <a:buChar char="-"/>
            </a:pPr>
            <a:r>
              <a:rPr b="1" lang="en">
                <a:latin typeface="Courier New"/>
                <a:ea typeface="Courier New"/>
                <a:cs typeface="Courier New"/>
                <a:sym typeface="Courier New"/>
              </a:rPr>
              <a:t>docker images</a:t>
            </a:r>
            <a:endParaRPr b="1">
              <a:latin typeface="Courier New"/>
              <a:ea typeface="Courier New"/>
              <a:cs typeface="Courier New"/>
              <a:sym typeface="Courier New"/>
            </a:endParaRPr>
          </a:p>
          <a:p>
            <a:pPr indent="-308610" lvl="0" marL="457200" rtl="0" algn="l">
              <a:spcBef>
                <a:spcPts val="0"/>
              </a:spcBef>
              <a:spcAft>
                <a:spcPts val="0"/>
              </a:spcAft>
              <a:buSzPct val="100000"/>
              <a:buFont typeface="Courier New"/>
              <a:buChar char="-"/>
            </a:pPr>
            <a:r>
              <a:rPr b="1" lang="en">
                <a:latin typeface="Courier New"/>
                <a:ea typeface="Courier New"/>
                <a:cs typeface="Courier New"/>
                <a:sym typeface="Courier New"/>
              </a:rPr>
              <a:t>docker run -it fu-image bash</a:t>
            </a:r>
            <a:endParaRPr b="1">
              <a:latin typeface="Courier New"/>
              <a:ea typeface="Courier New"/>
              <a:cs typeface="Courier New"/>
              <a:sym typeface="Courier New"/>
            </a:endParaRPr>
          </a:p>
          <a:p>
            <a:pPr indent="0" lvl="0" marL="457200" rtl="0" algn="l">
              <a:spcBef>
                <a:spcPts val="1200"/>
              </a:spcBef>
              <a:spcAft>
                <a:spcPts val="0"/>
              </a:spcAft>
              <a:buNone/>
            </a:pPr>
            <a:r>
              <a:t/>
            </a:r>
            <a:endParaRPr b="1">
              <a:latin typeface="Courier New"/>
              <a:ea typeface="Courier New"/>
              <a:cs typeface="Courier New"/>
              <a:sym typeface="Courier New"/>
            </a:endParaRPr>
          </a:p>
          <a:p>
            <a:pPr indent="-308610" lvl="0" marL="457200" rtl="0" algn="l">
              <a:spcBef>
                <a:spcPts val="1200"/>
              </a:spcBef>
              <a:spcAft>
                <a:spcPts val="0"/>
              </a:spcAft>
              <a:buSzPct val="100000"/>
              <a:buFont typeface="Courier New"/>
              <a:buChar char="-"/>
            </a:pPr>
            <a:r>
              <a:rPr lang="en"/>
              <a:t>(From within the Container, on the command line)</a:t>
            </a:r>
            <a:endParaRPr/>
          </a:p>
          <a:p>
            <a:pPr indent="-290830" lvl="1" marL="914400" rtl="0" algn="l">
              <a:spcBef>
                <a:spcPts val="0"/>
              </a:spcBef>
              <a:spcAft>
                <a:spcPts val="0"/>
              </a:spcAft>
              <a:buSzPct val="100000"/>
              <a:buFont typeface="Courier New"/>
              <a:buChar char="-"/>
            </a:pPr>
            <a:r>
              <a:rPr b="1" lang="en">
                <a:latin typeface="Courier New"/>
                <a:ea typeface="Courier New"/>
                <a:cs typeface="Courier New"/>
                <a:sym typeface="Courier New"/>
              </a:rPr>
              <a:t>pwd</a:t>
            </a:r>
            <a:endParaRPr b="1">
              <a:latin typeface="Courier New"/>
              <a:ea typeface="Courier New"/>
              <a:cs typeface="Courier New"/>
              <a:sym typeface="Courier New"/>
            </a:endParaRPr>
          </a:p>
          <a:p>
            <a:pPr indent="-290830" lvl="1" marL="914400" rtl="0" algn="l">
              <a:spcBef>
                <a:spcPts val="0"/>
              </a:spcBef>
              <a:spcAft>
                <a:spcPts val="0"/>
              </a:spcAft>
              <a:buSzPct val="100000"/>
              <a:buFont typeface="Courier New"/>
              <a:buChar char="-"/>
            </a:pPr>
            <a:r>
              <a:rPr b="1" lang="en">
                <a:latin typeface="Courier New"/>
                <a:ea typeface="Courier New"/>
                <a:cs typeface="Courier New"/>
                <a:sym typeface="Courier New"/>
              </a:rPr>
              <a:t>ls</a:t>
            </a:r>
            <a:endParaRPr b="1">
              <a:latin typeface="Courier New"/>
              <a:ea typeface="Courier New"/>
              <a:cs typeface="Courier New"/>
              <a:sym typeface="Courier New"/>
            </a:endParaRPr>
          </a:p>
          <a:p>
            <a:pPr indent="-290830" lvl="1" marL="914400" rtl="0" algn="l">
              <a:spcBef>
                <a:spcPts val="0"/>
              </a:spcBef>
              <a:spcAft>
                <a:spcPts val="0"/>
              </a:spcAft>
              <a:buSzPct val="100000"/>
              <a:buFont typeface="Courier New"/>
              <a:buChar char="-"/>
            </a:pPr>
            <a:r>
              <a:rPr b="1" lang="en">
                <a:latin typeface="Courier New"/>
                <a:ea typeface="Courier New"/>
                <a:cs typeface="Courier New"/>
                <a:sym typeface="Courier New"/>
              </a:rPr>
              <a:t>echo curious &gt; thiswasnotherebefore</a:t>
            </a:r>
            <a:endParaRPr b="1">
              <a:latin typeface="Courier New"/>
              <a:ea typeface="Courier New"/>
              <a:cs typeface="Courier New"/>
              <a:sym typeface="Courier New"/>
            </a:endParaRPr>
          </a:p>
          <a:p>
            <a:pPr indent="-290830" lvl="1" marL="914400" rtl="0" algn="l">
              <a:spcBef>
                <a:spcPts val="0"/>
              </a:spcBef>
              <a:spcAft>
                <a:spcPts val="0"/>
              </a:spcAft>
              <a:buSzPct val="100000"/>
              <a:buFont typeface="Courier New"/>
              <a:buChar char="-"/>
            </a:pPr>
            <a:r>
              <a:rPr b="1" lang="en">
                <a:latin typeface="Courier New"/>
                <a:ea typeface="Courier New"/>
                <a:cs typeface="Courier New"/>
                <a:sym typeface="Courier New"/>
              </a:rPr>
              <a:t>exit</a:t>
            </a:r>
            <a:endParaRPr b="1">
              <a:latin typeface="Courier New"/>
              <a:ea typeface="Courier New"/>
              <a:cs typeface="Courier New"/>
              <a:sym typeface="Courier New"/>
            </a:endParaRPr>
          </a:p>
          <a:p>
            <a:pPr indent="-308610" lvl="0" marL="457200" rtl="0" algn="l">
              <a:spcBef>
                <a:spcPts val="0"/>
              </a:spcBef>
              <a:spcAft>
                <a:spcPts val="0"/>
              </a:spcAft>
              <a:buSzPct val="100000"/>
              <a:buFont typeface="Courier New"/>
              <a:buChar char="-"/>
            </a:pPr>
            <a:r>
              <a:rPr b="1" lang="en">
                <a:latin typeface="Courier New"/>
                <a:ea typeface="Courier New"/>
                <a:cs typeface="Courier New"/>
                <a:sym typeface="Courier New"/>
              </a:rPr>
              <a:t>docker ps -a</a:t>
            </a:r>
            <a:endParaRPr b="1">
              <a:latin typeface="Courier New"/>
              <a:ea typeface="Courier New"/>
              <a:cs typeface="Courier New"/>
              <a:sym typeface="Courier New"/>
            </a:endParaRPr>
          </a:p>
          <a:p>
            <a:pPr indent="-308610" lvl="0" marL="457200" rtl="0" algn="l">
              <a:spcBef>
                <a:spcPts val="0"/>
              </a:spcBef>
              <a:spcAft>
                <a:spcPts val="0"/>
              </a:spcAft>
              <a:buSzPct val="100000"/>
              <a:buFont typeface="Courier New"/>
              <a:buChar char="-"/>
            </a:pPr>
            <a:r>
              <a:rPr b="1" lang="en">
                <a:latin typeface="Courier New"/>
                <a:ea typeface="Courier New"/>
                <a:cs typeface="Courier New"/>
                <a:sym typeface="Courier New"/>
              </a:rPr>
              <a:t>docker start -ai crazy_bullwinkle</a:t>
            </a:r>
            <a:endParaRPr b="1">
              <a:latin typeface="Courier New"/>
              <a:ea typeface="Courier New"/>
              <a:cs typeface="Courier New"/>
              <a:sym typeface="Courier New"/>
            </a:endParaRPr>
          </a:p>
          <a:p>
            <a:pPr indent="0" lvl="0" marL="457200" rtl="0" algn="l">
              <a:spcBef>
                <a:spcPts val="1200"/>
              </a:spcBef>
              <a:spcAft>
                <a:spcPts val="0"/>
              </a:spcAft>
              <a:buNone/>
            </a:pPr>
            <a:r>
              <a:t/>
            </a:r>
            <a:endParaRPr b="1">
              <a:latin typeface="Courier New"/>
              <a:ea typeface="Courier New"/>
              <a:cs typeface="Courier New"/>
              <a:sym typeface="Courier New"/>
            </a:endParaRPr>
          </a:p>
          <a:p>
            <a:pPr indent="-308610" lvl="0" marL="457200" rtl="0" algn="l">
              <a:spcBef>
                <a:spcPts val="1200"/>
              </a:spcBef>
              <a:spcAft>
                <a:spcPts val="0"/>
              </a:spcAft>
              <a:buSzPct val="100000"/>
              <a:buFont typeface="Courier New"/>
              <a:buChar char="-"/>
            </a:pPr>
            <a:r>
              <a:rPr lang="en"/>
              <a:t>(From within the Container, on the command line)</a:t>
            </a:r>
            <a:endParaRPr/>
          </a:p>
          <a:p>
            <a:pPr indent="-290830" lvl="1" marL="914400" rtl="0" algn="l">
              <a:spcBef>
                <a:spcPts val="0"/>
              </a:spcBef>
              <a:spcAft>
                <a:spcPts val="0"/>
              </a:spcAft>
              <a:buSzPct val="100000"/>
              <a:buFont typeface="Courier New"/>
              <a:buChar char="-"/>
            </a:pPr>
            <a:r>
              <a:rPr b="1" lang="en">
                <a:latin typeface="Courier New"/>
                <a:ea typeface="Courier New"/>
                <a:cs typeface="Courier New"/>
                <a:sym typeface="Courier New"/>
              </a:rPr>
              <a:t>pwd</a:t>
            </a:r>
            <a:endParaRPr b="1">
              <a:latin typeface="Courier New"/>
              <a:ea typeface="Courier New"/>
              <a:cs typeface="Courier New"/>
              <a:sym typeface="Courier New"/>
            </a:endParaRPr>
          </a:p>
          <a:p>
            <a:pPr indent="-290830" lvl="1" marL="914400" rtl="0" algn="l">
              <a:spcBef>
                <a:spcPts val="0"/>
              </a:spcBef>
              <a:spcAft>
                <a:spcPts val="0"/>
              </a:spcAft>
              <a:buSzPct val="100000"/>
              <a:buFont typeface="Courier New"/>
              <a:buChar char="-"/>
            </a:pPr>
            <a:r>
              <a:rPr b="1" lang="en">
                <a:latin typeface="Courier New"/>
                <a:ea typeface="Courier New"/>
                <a:cs typeface="Courier New"/>
                <a:sym typeface="Courier New"/>
              </a:rPr>
              <a:t>ls</a:t>
            </a:r>
            <a:endParaRPr b="1">
              <a:latin typeface="Courier New"/>
              <a:ea typeface="Courier New"/>
              <a:cs typeface="Courier New"/>
              <a:sym typeface="Courier New"/>
            </a:endParaRPr>
          </a:p>
          <a:p>
            <a:pPr indent="-290830" lvl="1" marL="914400" rtl="0" algn="l">
              <a:spcBef>
                <a:spcPts val="0"/>
              </a:spcBef>
              <a:spcAft>
                <a:spcPts val="0"/>
              </a:spcAft>
              <a:buSzPct val="100000"/>
              <a:buFont typeface="Courier New"/>
              <a:buChar char="-"/>
            </a:pPr>
            <a:r>
              <a:rPr b="1" lang="en">
                <a:latin typeface="Courier New"/>
                <a:ea typeface="Courier New"/>
                <a:cs typeface="Courier New"/>
                <a:sym typeface="Courier New"/>
              </a:rPr>
              <a:t>cat thiswasnotherebefore</a:t>
            </a:r>
            <a:endParaRPr b="1">
              <a:latin typeface="Courier New"/>
              <a:ea typeface="Courier New"/>
              <a:cs typeface="Courier New"/>
              <a:sym typeface="Courier New"/>
            </a:endParaRPr>
          </a:p>
          <a:p>
            <a:pPr indent="-290830" lvl="1" marL="914400" rtl="0" algn="l">
              <a:spcBef>
                <a:spcPts val="0"/>
              </a:spcBef>
              <a:spcAft>
                <a:spcPts val="0"/>
              </a:spcAft>
              <a:buSzPct val="100000"/>
              <a:buFont typeface="Courier New"/>
              <a:buChar char="-"/>
            </a:pPr>
            <a:r>
              <a:rPr b="1" lang="en">
                <a:latin typeface="Courier New"/>
                <a:ea typeface="Courier New"/>
                <a:cs typeface="Courier New"/>
                <a:sym typeface="Courier New"/>
              </a:rPr>
              <a:t>exit</a:t>
            </a:r>
            <a:endParaRPr b="1">
              <a:latin typeface="Courier New"/>
              <a:ea typeface="Courier New"/>
              <a:cs typeface="Courier New"/>
              <a:sym typeface="Courier New"/>
            </a:endParaRPr>
          </a:p>
          <a:p>
            <a:pPr indent="-308610" lvl="0" marL="457200" rtl="0" algn="l">
              <a:spcBef>
                <a:spcPts val="0"/>
              </a:spcBef>
              <a:spcAft>
                <a:spcPts val="0"/>
              </a:spcAft>
              <a:buSzPct val="100000"/>
              <a:buFont typeface="Courier New"/>
              <a:buChar char="-"/>
            </a:pPr>
            <a:r>
              <a:rPr b="1" lang="en">
                <a:latin typeface="Courier New"/>
                <a:ea typeface="Courier New"/>
                <a:cs typeface="Courier New"/>
                <a:sym typeface="Courier New"/>
              </a:rPr>
              <a:t>docker rmi fu-image</a:t>
            </a:r>
            <a:endParaRPr b="1">
              <a:latin typeface="Courier New"/>
              <a:ea typeface="Courier New"/>
              <a:cs typeface="Courier New"/>
              <a:sym typeface="Courier New"/>
            </a:endParaRPr>
          </a:p>
          <a:p>
            <a:pPr indent="-308610" lvl="0" marL="457200" rtl="0" algn="l">
              <a:spcBef>
                <a:spcPts val="0"/>
              </a:spcBef>
              <a:spcAft>
                <a:spcPts val="0"/>
              </a:spcAft>
              <a:buSzPct val="100000"/>
              <a:buFont typeface="Courier New"/>
              <a:buChar char="-"/>
            </a:pPr>
            <a:r>
              <a:rPr b="1" lang="en">
                <a:latin typeface="Courier New"/>
                <a:ea typeface="Courier New"/>
                <a:cs typeface="Courier New"/>
                <a:sym typeface="Courier New"/>
              </a:rPr>
              <a:t>docker container prune</a:t>
            </a:r>
            <a:endParaRPr b="1">
              <a:latin typeface="Courier New"/>
              <a:ea typeface="Courier New"/>
              <a:cs typeface="Courier New"/>
              <a:sym typeface="Courier New"/>
            </a:endParaRPr>
          </a:p>
        </p:txBody>
      </p:sp>
      <p:sp>
        <p:nvSpPr>
          <p:cNvPr id="94" name="Google Shape;94;p18"/>
          <p:cNvSpPr txBox="1"/>
          <p:nvPr/>
        </p:nvSpPr>
        <p:spPr>
          <a:xfrm rot="-807533">
            <a:off x="3690629" y="1093224"/>
            <a:ext cx="2158992" cy="3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FF0000"/>
                </a:solidFill>
              </a:rPr>
              <a:t>confirm the image is present</a:t>
            </a:r>
            <a:endParaRPr sz="1200">
              <a:solidFill>
                <a:srgbClr val="FF0000"/>
              </a:solidFill>
            </a:endParaRPr>
          </a:p>
        </p:txBody>
      </p:sp>
      <p:sp>
        <p:nvSpPr>
          <p:cNvPr id="95" name="Google Shape;95;p18"/>
          <p:cNvSpPr txBox="1"/>
          <p:nvPr/>
        </p:nvSpPr>
        <p:spPr>
          <a:xfrm rot="-807650">
            <a:off x="5135169" y="2568127"/>
            <a:ext cx="2528561" cy="3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FF0000"/>
                </a:solidFill>
              </a:rPr>
              <a:t>take note of the Container name…</a:t>
            </a:r>
            <a:endParaRPr sz="1200">
              <a:solidFill>
                <a:srgbClr val="FF0000"/>
              </a:solidFill>
            </a:endParaRPr>
          </a:p>
        </p:txBody>
      </p:sp>
      <p:cxnSp>
        <p:nvCxnSpPr>
          <p:cNvPr id="96" name="Google Shape;96;p18"/>
          <p:cNvCxnSpPr>
            <a:stCxn id="94" idx="1"/>
          </p:cNvCxnSpPr>
          <p:nvPr/>
        </p:nvCxnSpPr>
        <p:spPr>
          <a:xfrm flipH="1">
            <a:off x="2184875" y="1529224"/>
            <a:ext cx="1535400" cy="36600"/>
          </a:xfrm>
          <a:prstGeom prst="straightConnector1">
            <a:avLst/>
          </a:prstGeom>
          <a:noFill/>
          <a:ln cap="flat" cmpd="sng" w="9525">
            <a:solidFill>
              <a:srgbClr val="FF0000"/>
            </a:solidFill>
            <a:prstDash val="solid"/>
            <a:round/>
            <a:headEnd len="med" w="med" type="none"/>
            <a:tailEnd len="med" w="med" type="triangle"/>
          </a:ln>
        </p:spPr>
      </p:cxnSp>
      <p:cxnSp>
        <p:nvCxnSpPr>
          <p:cNvPr id="97" name="Google Shape;97;p18"/>
          <p:cNvCxnSpPr>
            <a:stCxn id="95" idx="1"/>
          </p:cNvCxnSpPr>
          <p:nvPr/>
        </p:nvCxnSpPr>
        <p:spPr>
          <a:xfrm flipH="1">
            <a:off x="2124300" y="3047177"/>
            <a:ext cx="3045600" cy="111900"/>
          </a:xfrm>
          <a:prstGeom prst="straightConnector1">
            <a:avLst/>
          </a:prstGeom>
          <a:noFill/>
          <a:ln cap="flat" cmpd="sng" w="9525">
            <a:solidFill>
              <a:srgbClr val="FF0000"/>
            </a:solidFill>
            <a:prstDash val="solid"/>
            <a:round/>
            <a:headEnd len="med" w="med" type="none"/>
            <a:tailEnd len="med" w="med" type="triangle"/>
          </a:ln>
        </p:spPr>
      </p:cxnSp>
      <p:sp>
        <p:nvSpPr>
          <p:cNvPr id="98" name="Google Shape;98;p18"/>
          <p:cNvSpPr txBox="1"/>
          <p:nvPr/>
        </p:nvSpPr>
        <p:spPr>
          <a:xfrm rot="-807807">
            <a:off x="5397372" y="2761146"/>
            <a:ext cx="2816707" cy="3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FF0000"/>
                </a:solidFill>
              </a:rPr>
              <a:t>…use it to start the Container again</a:t>
            </a:r>
            <a:endParaRPr sz="1200">
              <a:solidFill>
                <a:srgbClr val="FF0000"/>
              </a:solidFill>
            </a:endParaRPr>
          </a:p>
        </p:txBody>
      </p:sp>
      <p:cxnSp>
        <p:nvCxnSpPr>
          <p:cNvPr id="99" name="Google Shape;99;p18"/>
          <p:cNvCxnSpPr>
            <a:stCxn id="98" idx="1"/>
          </p:cNvCxnSpPr>
          <p:nvPr/>
        </p:nvCxnSpPr>
        <p:spPr>
          <a:xfrm flipH="1">
            <a:off x="4119375" y="3273796"/>
            <a:ext cx="1316700" cy="74700"/>
          </a:xfrm>
          <a:prstGeom prst="straightConnector1">
            <a:avLst/>
          </a:prstGeom>
          <a:noFill/>
          <a:ln cap="flat" cmpd="sng" w="9525">
            <a:solidFill>
              <a:srgbClr val="FF0000"/>
            </a:solidFill>
            <a:prstDash val="solid"/>
            <a:round/>
            <a:headEnd len="med" w="med" type="none"/>
            <a:tailEnd len="med" w="med" type="triangle"/>
          </a:ln>
        </p:spPr>
      </p:cxnSp>
      <p:sp>
        <p:nvSpPr>
          <p:cNvPr id="100" name="Google Shape;100;p18"/>
          <p:cNvSpPr txBox="1"/>
          <p:nvPr/>
        </p:nvSpPr>
        <p:spPr>
          <a:xfrm rot="-807807">
            <a:off x="4991097" y="3718271"/>
            <a:ext cx="2816707" cy="3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FF0000"/>
                </a:solidFill>
              </a:rPr>
              <a:t>is the artifact still there?</a:t>
            </a:r>
            <a:endParaRPr sz="1200">
              <a:solidFill>
                <a:srgbClr val="FF0000"/>
              </a:solidFill>
            </a:endParaRPr>
          </a:p>
        </p:txBody>
      </p:sp>
      <p:cxnSp>
        <p:nvCxnSpPr>
          <p:cNvPr id="101" name="Google Shape;101;p18"/>
          <p:cNvCxnSpPr>
            <a:stCxn id="100" idx="1"/>
          </p:cNvCxnSpPr>
          <p:nvPr/>
        </p:nvCxnSpPr>
        <p:spPr>
          <a:xfrm flipH="1">
            <a:off x="1562700" y="4230921"/>
            <a:ext cx="3467100" cy="96300"/>
          </a:xfrm>
          <a:prstGeom prst="straightConnector1">
            <a:avLst/>
          </a:prstGeom>
          <a:noFill/>
          <a:ln cap="flat" cmpd="sng" w="9525">
            <a:solidFill>
              <a:srgbClr val="FF0000"/>
            </a:solidFill>
            <a:prstDash val="solid"/>
            <a:round/>
            <a:headEnd len="med" w="med" type="none"/>
            <a:tailEnd len="med" w="med" type="triangl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Part 4: Bind Mount</a:t>
            </a:r>
            <a:endParaRPr/>
          </a:p>
        </p:txBody>
      </p:sp>
      <p:sp>
        <p:nvSpPr>
          <p:cNvPr id="107" name="Google Shape;107;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lang="en"/>
              <a:t>This section continues to use “fu” from Part 3.</a:t>
            </a:r>
            <a:endParaRPr/>
          </a:p>
          <a:p>
            <a:pPr indent="0" lvl="0" marL="0" rtl="0" algn="l">
              <a:spcBef>
                <a:spcPts val="1200"/>
              </a:spcBef>
              <a:spcAft>
                <a:spcPts val="0"/>
              </a:spcAft>
              <a:buNone/>
            </a:pPr>
            <a:r>
              <a:rPr b="1" lang="en">
                <a:latin typeface="Courier New"/>
                <a:ea typeface="Courier New"/>
                <a:cs typeface="Courier New"/>
                <a:sym typeface="Courier New"/>
              </a:rPr>
              <a:t>ls ~/fu</a:t>
            </a:r>
            <a:endParaRPr b="1">
              <a:latin typeface="Courier New"/>
              <a:ea typeface="Courier New"/>
              <a:cs typeface="Courier New"/>
              <a:sym typeface="Courier New"/>
            </a:endParaRPr>
          </a:p>
          <a:p>
            <a:pPr indent="0" lvl="0" marL="0" rtl="0" algn="l">
              <a:spcBef>
                <a:spcPts val="1200"/>
              </a:spcBef>
              <a:spcAft>
                <a:spcPts val="0"/>
              </a:spcAft>
              <a:buNone/>
            </a:pPr>
            <a:r>
              <a:rPr b="1" lang="en">
                <a:latin typeface="Courier New"/>
                <a:ea typeface="Courier New"/>
                <a:cs typeface="Courier New"/>
                <a:sym typeface="Courier New"/>
              </a:rPr>
              <a:t>cat ~/fu/Dockerfile</a:t>
            </a:r>
            <a:endParaRPr b="1">
              <a:latin typeface="Courier New"/>
              <a:ea typeface="Courier New"/>
              <a:cs typeface="Courier New"/>
              <a:sym typeface="Courier New"/>
            </a:endParaRPr>
          </a:p>
          <a:p>
            <a:pPr indent="0" lvl="0" marL="0" rtl="0" algn="l">
              <a:spcBef>
                <a:spcPts val="1200"/>
              </a:spcBef>
              <a:spcAft>
                <a:spcPts val="0"/>
              </a:spcAft>
              <a:buNone/>
            </a:pPr>
            <a:r>
              <a:rPr b="1" lang="en">
                <a:latin typeface="Courier New"/>
                <a:ea typeface="Courier New"/>
                <a:cs typeface="Courier New"/>
                <a:sym typeface="Courier New"/>
              </a:rPr>
              <a:t>echo WORKDIR app &gt;&gt; ~/fu/Dockerfile</a:t>
            </a:r>
            <a:endParaRPr b="1">
              <a:latin typeface="Courier New"/>
              <a:ea typeface="Courier New"/>
              <a:cs typeface="Courier New"/>
              <a:sym typeface="Courier New"/>
            </a:endParaRPr>
          </a:p>
          <a:p>
            <a:pPr indent="0" lvl="0" marL="0" rtl="0" algn="l">
              <a:spcBef>
                <a:spcPts val="1200"/>
              </a:spcBef>
              <a:spcAft>
                <a:spcPts val="0"/>
              </a:spcAft>
              <a:buNone/>
            </a:pPr>
            <a:r>
              <a:rPr b="1" lang="en">
                <a:latin typeface="Courier New"/>
                <a:ea typeface="Courier New"/>
                <a:cs typeface="Courier New"/>
                <a:sym typeface="Courier New"/>
              </a:rPr>
              <a:t>cd fu</a:t>
            </a:r>
            <a:endParaRPr b="1">
              <a:latin typeface="Courier New"/>
              <a:ea typeface="Courier New"/>
              <a:cs typeface="Courier New"/>
              <a:sym typeface="Courier New"/>
            </a:endParaRPr>
          </a:p>
          <a:p>
            <a:pPr indent="0" lvl="0" marL="0" rtl="0" algn="l">
              <a:spcBef>
                <a:spcPts val="1200"/>
              </a:spcBef>
              <a:spcAft>
                <a:spcPts val="0"/>
              </a:spcAft>
              <a:buNone/>
            </a:pPr>
            <a:r>
              <a:rPr b="1" lang="en">
                <a:latin typeface="Courier New"/>
                <a:ea typeface="Courier New"/>
                <a:cs typeface="Courier New"/>
                <a:sym typeface="Courier New"/>
              </a:rPr>
              <a:t>docker build -t fu-image .</a:t>
            </a:r>
            <a:endParaRPr b="1">
              <a:latin typeface="Courier New"/>
              <a:ea typeface="Courier New"/>
              <a:cs typeface="Courier New"/>
              <a:sym typeface="Courier New"/>
            </a:endParaRPr>
          </a:p>
          <a:p>
            <a:pPr indent="0" lvl="0" marL="0" rtl="0" algn="l">
              <a:spcBef>
                <a:spcPts val="1200"/>
              </a:spcBef>
              <a:spcAft>
                <a:spcPts val="0"/>
              </a:spcAft>
              <a:buNone/>
            </a:pPr>
            <a:r>
              <a:rPr b="1" lang="en">
                <a:latin typeface="Courier New"/>
                <a:ea typeface="Courier New"/>
                <a:cs typeface="Courier New"/>
                <a:sym typeface="Courier New"/>
              </a:rPr>
              <a:t>mkdir ~/dwdata</a:t>
            </a:r>
            <a:endParaRPr b="1">
              <a:latin typeface="Courier New"/>
              <a:ea typeface="Courier New"/>
              <a:cs typeface="Courier New"/>
              <a:sym typeface="Courier New"/>
            </a:endParaRPr>
          </a:p>
          <a:p>
            <a:pPr indent="0" lvl="0" marL="0" rtl="0" algn="l">
              <a:spcBef>
                <a:spcPts val="1200"/>
              </a:spcBef>
              <a:spcAft>
                <a:spcPts val="0"/>
              </a:spcAft>
              <a:buNone/>
            </a:pPr>
            <a:r>
              <a:rPr b="1" lang="en">
                <a:latin typeface="Courier New"/>
                <a:ea typeface="Courier New"/>
                <a:cs typeface="Courier New"/>
                <a:sym typeface="Courier New"/>
              </a:rPr>
              <a:t>echo This is the host machine &gt; ~/dwdata/host.txt</a:t>
            </a:r>
            <a:endParaRPr b="1">
              <a:latin typeface="Courier New"/>
              <a:ea typeface="Courier New"/>
              <a:cs typeface="Courier New"/>
              <a:sym typeface="Courier New"/>
            </a:endParaRPr>
          </a:p>
          <a:p>
            <a:pPr indent="0" lvl="0" marL="0" rtl="0" algn="l">
              <a:spcBef>
                <a:spcPts val="1200"/>
              </a:spcBef>
              <a:spcAft>
                <a:spcPts val="0"/>
              </a:spcAft>
              <a:buNone/>
            </a:pPr>
            <a:r>
              <a:rPr b="1" lang="en">
                <a:latin typeface="Courier New"/>
                <a:ea typeface="Courier New"/>
                <a:cs typeface="Courier New"/>
                <a:sym typeface="Courier New"/>
              </a:rPr>
              <a:t>cat ~/dwdata/host.txt</a:t>
            </a:r>
            <a:endParaRPr b="1">
              <a:latin typeface="Courier New"/>
              <a:ea typeface="Courier New"/>
              <a:cs typeface="Courier New"/>
              <a:sym typeface="Courier New"/>
            </a:endParaRPr>
          </a:p>
          <a:p>
            <a:pPr indent="0" lvl="0" marL="0" rtl="0" algn="l">
              <a:spcBef>
                <a:spcPts val="1200"/>
              </a:spcBef>
              <a:spcAft>
                <a:spcPts val="1200"/>
              </a:spcAft>
              <a:buNone/>
            </a:pPr>
            <a:r>
              <a:rPr b="1" lang="en">
                <a:latin typeface="Courier New"/>
                <a:ea typeface="Courier New"/>
                <a:cs typeface="Courier New"/>
                <a:sym typeface="Courier New"/>
              </a:rPr>
              <a:t>docker run -it -v ~/dwdata:/data fu-image bash</a:t>
            </a:r>
            <a:endParaRPr b="1">
              <a:latin typeface="Courier New"/>
              <a:ea typeface="Courier New"/>
              <a:cs typeface="Courier New"/>
              <a:sym typeface="Courier New"/>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Part 4: Bind Mount 2</a:t>
            </a:r>
            <a:endParaRPr/>
          </a:p>
        </p:txBody>
      </p:sp>
      <p:sp>
        <p:nvSpPr>
          <p:cNvPr id="113" name="Google Shape;113;p20"/>
          <p:cNvSpPr txBox="1"/>
          <p:nvPr>
            <p:ph idx="1" type="body"/>
          </p:nvPr>
        </p:nvSpPr>
        <p:spPr>
          <a:xfrm>
            <a:off x="311700" y="130255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We are in the Container: A pseudo-terminal bash shell</a:t>
            </a:r>
            <a:endParaRPr/>
          </a:p>
          <a:p>
            <a:pPr indent="0" lvl="0" marL="0" rtl="0" algn="l">
              <a:spcBef>
                <a:spcPts val="1200"/>
              </a:spcBef>
              <a:spcAft>
                <a:spcPts val="0"/>
              </a:spcAft>
              <a:buNone/>
            </a:pPr>
            <a:r>
              <a:rPr lang="en"/>
              <a:t>Notice where we are: </a:t>
            </a:r>
            <a:r>
              <a:rPr b="1" lang="en">
                <a:latin typeface="Courier New"/>
                <a:ea typeface="Courier New"/>
                <a:cs typeface="Courier New"/>
                <a:sym typeface="Courier New"/>
              </a:rPr>
              <a:t>pwd</a:t>
            </a:r>
            <a:endParaRPr b="1">
              <a:latin typeface="Courier New"/>
              <a:ea typeface="Courier New"/>
              <a:cs typeface="Courier New"/>
              <a:sym typeface="Courier New"/>
            </a:endParaRPr>
          </a:p>
          <a:p>
            <a:pPr indent="0" lvl="0" marL="0" rtl="0" algn="l">
              <a:spcBef>
                <a:spcPts val="1200"/>
              </a:spcBef>
              <a:spcAft>
                <a:spcPts val="0"/>
              </a:spcAft>
              <a:buNone/>
            </a:pPr>
            <a:r>
              <a:rPr lang="en"/>
              <a:t>We can navigate to </a:t>
            </a:r>
            <a:r>
              <a:rPr b="1" lang="en">
                <a:latin typeface="Courier New"/>
                <a:ea typeface="Courier New"/>
                <a:cs typeface="Courier New"/>
                <a:sym typeface="Courier New"/>
              </a:rPr>
              <a:t>/data</a:t>
            </a:r>
            <a:r>
              <a:rPr lang="en"/>
              <a:t> and confirm there is a text file here from the host</a:t>
            </a:r>
            <a:endParaRPr/>
          </a:p>
          <a:p>
            <a:pPr indent="0" lvl="0" marL="0" rtl="0" algn="l">
              <a:spcBef>
                <a:spcPts val="1200"/>
              </a:spcBef>
              <a:spcAft>
                <a:spcPts val="0"/>
              </a:spcAft>
              <a:buNone/>
            </a:pPr>
            <a:r>
              <a:rPr lang="en"/>
              <a:t>We can add a new text file from the Container</a:t>
            </a:r>
            <a:endParaRPr/>
          </a:p>
          <a:p>
            <a:pPr indent="0" lvl="0" marL="0" rtl="0" algn="l">
              <a:spcBef>
                <a:spcPts val="1200"/>
              </a:spcBef>
              <a:spcAft>
                <a:spcPts val="1200"/>
              </a:spcAft>
              <a:buNone/>
            </a:pPr>
            <a:r>
              <a:rPr lang="en"/>
              <a:t>Then we leave to go see if this appears in </a:t>
            </a:r>
            <a:r>
              <a:rPr b="1" lang="en">
                <a:latin typeface="Courier New"/>
                <a:ea typeface="Courier New"/>
                <a:cs typeface="Courier New"/>
                <a:sym typeface="Courier New"/>
              </a:rPr>
              <a:t>~/dwdata</a:t>
            </a:r>
            <a:endParaRPr b="1">
              <a:latin typeface="Courier New"/>
              <a:ea typeface="Courier New"/>
              <a:cs typeface="Courier New"/>
              <a:sym typeface="Courier New"/>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Part 4: Bind Mount 2</a:t>
            </a:r>
            <a:endParaRPr/>
          </a:p>
        </p:txBody>
      </p:sp>
      <p:sp>
        <p:nvSpPr>
          <p:cNvPr id="119" name="Google Shape;119;p21"/>
          <p:cNvSpPr txBox="1"/>
          <p:nvPr>
            <p:ph idx="1" type="body"/>
          </p:nvPr>
        </p:nvSpPr>
        <p:spPr>
          <a:xfrm>
            <a:off x="311700" y="1152475"/>
            <a:ext cx="8520600" cy="38379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b="1" lang="en">
                <a:latin typeface="Courier New"/>
                <a:ea typeface="Courier New"/>
                <a:cs typeface="Courier New"/>
                <a:sym typeface="Courier New"/>
              </a:rPr>
              <a:t>pwd</a:t>
            </a:r>
            <a:endParaRPr b="1">
              <a:latin typeface="Courier New"/>
              <a:ea typeface="Courier New"/>
              <a:cs typeface="Courier New"/>
              <a:sym typeface="Courier New"/>
            </a:endParaRPr>
          </a:p>
          <a:p>
            <a:pPr indent="0" lvl="0" marL="0" rtl="0" algn="l">
              <a:spcBef>
                <a:spcPts val="1200"/>
              </a:spcBef>
              <a:spcAft>
                <a:spcPts val="0"/>
              </a:spcAft>
              <a:buNone/>
            </a:pPr>
            <a:r>
              <a:rPr b="1" lang="en">
                <a:latin typeface="Courier New"/>
                <a:ea typeface="Courier New"/>
                <a:cs typeface="Courier New"/>
                <a:sym typeface="Courier New"/>
              </a:rPr>
              <a:t>ls</a:t>
            </a:r>
            <a:endParaRPr b="1">
              <a:latin typeface="Courier New"/>
              <a:ea typeface="Courier New"/>
              <a:cs typeface="Courier New"/>
              <a:sym typeface="Courier New"/>
            </a:endParaRPr>
          </a:p>
          <a:p>
            <a:pPr indent="0" lvl="0" marL="0" rtl="0" algn="l">
              <a:spcBef>
                <a:spcPts val="1200"/>
              </a:spcBef>
              <a:spcAft>
                <a:spcPts val="0"/>
              </a:spcAft>
              <a:buNone/>
            </a:pPr>
            <a:r>
              <a:rPr b="1" lang="en">
                <a:latin typeface="Courier New"/>
                <a:ea typeface="Courier New"/>
                <a:cs typeface="Courier New"/>
                <a:sym typeface="Courier New"/>
              </a:rPr>
              <a:t>cd /data</a:t>
            </a:r>
            <a:endParaRPr b="1">
              <a:latin typeface="Courier New"/>
              <a:ea typeface="Courier New"/>
              <a:cs typeface="Courier New"/>
              <a:sym typeface="Courier New"/>
            </a:endParaRPr>
          </a:p>
          <a:p>
            <a:pPr indent="0" lvl="0" marL="0" rtl="0" algn="l">
              <a:spcBef>
                <a:spcPts val="1200"/>
              </a:spcBef>
              <a:spcAft>
                <a:spcPts val="0"/>
              </a:spcAft>
              <a:buNone/>
            </a:pPr>
            <a:r>
              <a:rPr b="1" lang="en">
                <a:latin typeface="Courier New"/>
                <a:ea typeface="Courier New"/>
                <a:cs typeface="Courier New"/>
                <a:sym typeface="Courier New"/>
              </a:rPr>
              <a:t>ls</a:t>
            </a:r>
            <a:endParaRPr b="1">
              <a:latin typeface="Courier New"/>
              <a:ea typeface="Courier New"/>
              <a:cs typeface="Courier New"/>
              <a:sym typeface="Courier New"/>
            </a:endParaRPr>
          </a:p>
          <a:p>
            <a:pPr indent="0" lvl="0" marL="0" rtl="0" algn="l">
              <a:spcBef>
                <a:spcPts val="1200"/>
              </a:spcBef>
              <a:spcAft>
                <a:spcPts val="0"/>
              </a:spcAft>
              <a:buNone/>
            </a:pPr>
            <a:r>
              <a:rPr b="1" lang="en">
                <a:latin typeface="Courier New"/>
                <a:ea typeface="Courier New"/>
                <a:cs typeface="Courier New"/>
                <a:sym typeface="Courier New"/>
              </a:rPr>
              <a:t>cat host.txt</a:t>
            </a:r>
            <a:endParaRPr b="1">
              <a:latin typeface="Courier New"/>
              <a:ea typeface="Courier New"/>
              <a:cs typeface="Courier New"/>
              <a:sym typeface="Courier New"/>
            </a:endParaRPr>
          </a:p>
          <a:p>
            <a:pPr indent="0" lvl="0" marL="0" rtl="0" algn="l">
              <a:spcBef>
                <a:spcPts val="1200"/>
              </a:spcBef>
              <a:spcAft>
                <a:spcPts val="0"/>
              </a:spcAft>
              <a:buNone/>
            </a:pPr>
            <a:r>
              <a:rPr b="1" lang="en">
                <a:latin typeface="Courier New"/>
                <a:ea typeface="Courier New"/>
                <a:cs typeface="Courier New"/>
                <a:sym typeface="Courier New"/>
              </a:rPr>
              <a:t>echo This is from the Container &gt; container.txt</a:t>
            </a:r>
            <a:endParaRPr b="1">
              <a:latin typeface="Courier New"/>
              <a:ea typeface="Courier New"/>
              <a:cs typeface="Courier New"/>
              <a:sym typeface="Courier New"/>
            </a:endParaRPr>
          </a:p>
          <a:p>
            <a:pPr indent="0" lvl="0" marL="0" rtl="0" algn="l">
              <a:spcBef>
                <a:spcPts val="1200"/>
              </a:spcBef>
              <a:spcAft>
                <a:spcPts val="0"/>
              </a:spcAft>
              <a:buNone/>
            </a:pPr>
            <a:r>
              <a:rPr b="1" lang="en">
                <a:latin typeface="Courier New"/>
                <a:ea typeface="Courier New"/>
                <a:cs typeface="Courier New"/>
                <a:sym typeface="Courier New"/>
              </a:rPr>
              <a:t>exit</a:t>
            </a:r>
            <a:endParaRPr b="1">
              <a:latin typeface="Courier New"/>
              <a:ea typeface="Courier New"/>
              <a:cs typeface="Courier New"/>
              <a:sym typeface="Courier New"/>
            </a:endParaRPr>
          </a:p>
          <a:p>
            <a:pPr indent="0" lvl="0" marL="0" rtl="0" algn="l">
              <a:spcBef>
                <a:spcPts val="1200"/>
              </a:spcBef>
              <a:spcAft>
                <a:spcPts val="0"/>
              </a:spcAft>
              <a:buClr>
                <a:schemeClr val="dk1"/>
              </a:buClr>
              <a:buSzPct val="61111"/>
              <a:buFont typeface="Arial"/>
              <a:buNone/>
            </a:pPr>
            <a:r>
              <a:rPr b="1" lang="en">
                <a:latin typeface="Courier New"/>
                <a:ea typeface="Courier New"/>
                <a:cs typeface="Courier New"/>
                <a:sym typeface="Courier New"/>
              </a:rPr>
              <a:t>cd ~/dwdata</a:t>
            </a:r>
            <a:endParaRPr b="1">
              <a:latin typeface="Courier New"/>
              <a:ea typeface="Courier New"/>
              <a:cs typeface="Courier New"/>
              <a:sym typeface="Courier New"/>
            </a:endParaRPr>
          </a:p>
          <a:p>
            <a:pPr indent="0" lvl="0" marL="0" rtl="0" algn="l">
              <a:spcBef>
                <a:spcPts val="1200"/>
              </a:spcBef>
              <a:spcAft>
                <a:spcPts val="0"/>
              </a:spcAft>
              <a:buClr>
                <a:schemeClr val="dk1"/>
              </a:buClr>
              <a:buSzPct val="61111"/>
              <a:buFont typeface="Arial"/>
              <a:buNone/>
            </a:pPr>
            <a:r>
              <a:rPr b="1" lang="en">
                <a:latin typeface="Courier New"/>
                <a:ea typeface="Courier New"/>
                <a:cs typeface="Courier New"/>
                <a:sym typeface="Courier New"/>
              </a:rPr>
              <a:t>ls</a:t>
            </a:r>
            <a:endParaRPr b="1">
              <a:latin typeface="Courier New"/>
              <a:ea typeface="Courier New"/>
              <a:cs typeface="Courier New"/>
              <a:sym typeface="Courier New"/>
            </a:endParaRPr>
          </a:p>
          <a:p>
            <a:pPr indent="0" lvl="0" marL="0" rtl="0" algn="l">
              <a:spcBef>
                <a:spcPts val="1200"/>
              </a:spcBef>
              <a:spcAft>
                <a:spcPts val="1200"/>
              </a:spcAft>
              <a:buNone/>
            </a:pPr>
            <a:r>
              <a:rPr b="1" lang="en">
                <a:latin typeface="Courier New"/>
                <a:ea typeface="Courier New"/>
                <a:cs typeface="Courier New"/>
                <a:sym typeface="Courier New"/>
              </a:rPr>
              <a:t>cat container.txt</a:t>
            </a:r>
            <a:endParaRPr b="1">
              <a:latin typeface="Courier New"/>
              <a:ea typeface="Courier New"/>
              <a:cs typeface="Courier New"/>
              <a:sym typeface="Courier New"/>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Part 5. Summary so far and Context</a:t>
            </a:r>
            <a:endParaRPr/>
          </a:p>
        </p:txBody>
      </p:sp>
      <p:sp>
        <p:nvSpPr>
          <p:cNvPr id="125" name="Google Shape;125;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Part 1 (hello-world) invisibly retrieved an Image from Docker Hub</a:t>
            </a:r>
            <a:endParaRPr/>
          </a:p>
          <a:p>
            <a:pPr indent="-317500" lvl="1" marL="914400" rtl="0" algn="l">
              <a:spcBef>
                <a:spcPts val="0"/>
              </a:spcBef>
              <a:spcAft>
                <a:spcPts val="0"/>
              </a:spcAft>
              <a:buSzPts val="1400"/>
              <a:buChar char="-"/>
            </a:pPr>
            <a:r>
              <a:rPr lang="en"/>
              <a:t>Docker Hub is a big feature of the Docker ecosystem. It is Home Depot.</a:t>
            </a:r>
            <a:endParaRPr/>
          </a:p>
          <a:p>
            <a:pPr indent="-342900" lvl="0" marL="457200" rtl="0" algn="l">
              <a:spcBef>
                <a:spcPts val="0"/>
              </a:spcBef>
              <a:spcAft>
                <a:spcPts val="0"/>
              </a:spcAft>
              <a:buSzPts val="1800"/>
              <a:buChar char="-"/>
            </a:pPr>
            <a:r>
              <a:rPr lang="en"/>
              <a:t>Part 2 just </a:t>
            </a:r>
            <a:r>
              <a:rPr b="1" lang="en">
                <a:latin typeface="Courier New"/>
                <a:ea typeface="Courier New"/>
                <a:cs typeface="Courier New"/>
                <a:sym typeface="Courier New"/>
              </a:rPr>
              <a:t>git clone</a:t>
            </a:r>
            <a:endParaRPr b="1">
              <a:latin typeface="Courier New"/>
              <a:ea typeface="Courier New"/>
              <a:cs typeface="Courier New"/>
              <a:sym typeface="Courier New"/>
            </a:endParaRPr>
          </a:p>
          <a:p>
            <a:pPr indent="-342900" lvl="0" marL="457200" rtl="0" algn="l">
              <a:spcBef>
                <a:spcPts val="0"/>
              </a:spcBef>
              <a:spcAft>
                <a:spcPts val="0"/>
              </a:spcAft>
              <a:buSzPts val="1800"/>
              <a:buChar char="-"/>
            </a:pPr>
            <a:r>
              <a:rPr lang="en"/>
              <a:t>Part 3 </a:t>
            </a:r>
            <a:r>
              <a:rPr b="1" lang="en">
                <a:latin typeface="Courier New"/>
                <a:ea typeface="Courier New"/>
                <a:cs typeface="Courier New"/>
                <a:sym typeface="Courier New"/>
              </a:rPr>
              <a:t>fu</a:t>
            </a:r>
            <a:r>
              <a:rPr lang="en"/>
              <a:t> and</a:t>
            </a:r>
            <a:r>
              <a:rPr lang="en"/>
              <a:t> the Docker workflow D &gt; I &gt; C</a:t>
            </a:r>
            <a:endParaRPr/>
          </a:p>
          <a:p>
            <a:pPr indent="-342900" lvl="0" marL="457200" rtl="0" algn="l">
              <a:spcBef>
                <a:spcPts val="0"/>
              </a:spcBef>
              <a:spcAft>
                <a:spcPts val="0"/>
              </a:spcAft>
              <a:buSzPts val="1800"/>
              <a:buChar char="-"/>
            </a:pPr>
            <a:r>
              <a:rPr lang="en"/>
              <a:t>Part 4 Bind Mount gets at Container Duality</a:t>
            </a:r>
            <a:endParaRPr/>
          </a:p>
          <a:p>
            <a:pPr indent="-317500" lvl="1" marL="914400" rtl="0" algn="l">
              <a:spcBef>
                <a:spcPts val="0"/>
              </a:spcBef>
              <a:spcAft>
                <a:spcPts val="0"/>
              </a:spcAft>
              <a:buSzPts val="1400"/>
              <a:buChar char="-"/>
            </a:pPr>
            <a:r>
              <a:rPr lang="en"/>
              <a:t>A running Container is an isolated execution space…</a:t>
            </a:r>
            <a:endParaRPr/>
          </a:p>
          <a:p>
            <a:pPr indent="-317500" lvl="1" marL="914400" rtl="0" algn="l">
              <a:spcBef>
                <a:spcPts val="0"/>
              </a:spcBef>
              <a:spcAft>
                <a:spcPts val="0"/>
              </a:spcAft>
              <a:buSzPts val="1400"/>
              <a:buChar char="-"/>
            </a:pPr>
            <a:r>
              <a:rPr lang="en"/>
              <a:t>…but it needs to extend into the real world to be relevant</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Now we’ll step through some context to try and expand / solidify our picture of how Containers might be useful.</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3"/>
          <p:cNvSpPr txBox="1"/>
          <p:nvPr>
            <p:ph type="title"/>
          </p:nvPr>
        </p:nvSpPr>
        <p:spPr>
          <a:xfrm>
            <a:off x="311700" y="21735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Read Later: Communication C ⇐⇒ C and U ⇐⇒C</a:t>
            </a:r>
            <a:endParaRPr/>
          </a:p>
        </p:txBody>
      </p:sp>
      <p:sp>
        <p:nvSpPr>
          <p:cNvPr id="131" name="Google Shape;131;p23"/>
          <p:cNvSpPr txBox="1"/>
          <p:nvPr>
            <p:ph idx="1" type="body"/>
          </p:nvPr>
        </p:nvSpPr>
        <p:spPr>
          <a:xfrm>
            <a:off x="342750" y="935150"/>
            <a:ext cx="8520600" cy="40191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Flask is a lightweight web framework that translates between Python functions and network API calls.</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C–C uses a user-defined bridge virtual network that Containers use to pass information. The virtual network exists in the Linux kernel’s network namespace managed by the Docker daemon. We can say this network exists inside the kernel of Docker Desktop’s hidden VM. </a:t>
            </a:r>
            <a:endParaRPr/>
          </a:p>
          <a:p>
            <a:pPr indent="0" lvl="0" marL="0" rtl="0" algn="l">
              <a:spcBef>
                <a:spcPts val="1200"/>
              </a:spcBef>
              <a:spcAft>
                <a:spcPts val="0"/>
              </a:spcAft>
              <a:buNone/>
            </a:pPr>
            <a:r>
              <a:rPr lang="en"/>
              <a:t>We can inspect this network using </a:t>
            </a:r>
            <a:r>
              <a:rPr b="1" lang="en">
                <a:latin typeface="Courier New"/>
                <a:ea typeface="Courier New"/>
                <a:cs typeface="Courier New"/>
                <a:sym typeface="Courier New"/>
              </a:rPr>
              <a:t>docker network inspect prime-net</a:t>
            </a:r>
            <a:r>
              <a:rPr lang="en"/>
              <a:t>. </a:t>
            </a:r>
            <a:endParaRPr/>
          </a:p>
          <a:p>
            <a:pPr indent="0" lvl="0" marL="0" rtl="0" algn="l">
              <a:spcBef>
                <a:spcPts val="1200"/>
              </a:spcBef>
              <a:spcAft>
                <a:spcPts val="1200"/>
              </a:spcAft>
              <a:buNone/>
            </a:pPr>
            <a:r>
              <a:rPr lang="en"/>
              <a:t>This produces a JSON rundown of the network. Note that bridge networks like this support C–C for many Containers all on the same host. A different type of network called an Overlay Network spans multiple Docker hosts.</a:t>
            </a:r>
            <a:endParaRPr b="1">
              <a:latin typeface="Courier New"/>
              <a:ea typeface="Courier New"/>
              <a:cs typeface="Courier New"/>
              <a:sym typeface="Courier New"/>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Miscellaneous Tactics</a:t>
            </a:r>
            <a:endParaRPr/>
          </a:p>
        </p:txBody>
      </p:sp>
      <p:sp>
        <p:nvSpPr>
          <p:cNvPr id="137" name="Google Shape;137;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Compute anywhere: Supported by the Docker ecosystem / framework</a:t>
            </a:r>
            <a:endParaRPr/>
          </a:p>
          <a:p>
            <a:pPr indent="0" lvl="0" marL="457200" rtl="0" algn="l">
              <a:spcBef>
                <a:spcPts val="1200"/>
              </a:spcBef>
              <a:spcAft>
                <a:spcPts val="0"/>
              </a:spcAft>
              <a:buNone/>
            </a:pPr>
            <a:r>
              <a:t/>
            </a:r>
            <a:endParaRPr/>
          </a:p>
          <a:p>
            <a:pPr indent="-342900" lvl="0" marL="457200" rtl="0" algn="l">
              <a:spcBef>
                <a:spcPts val="1200"/>
              </a:spcBef>
              <a:spcAft>
                <a:spcPts val="0"/>
              </a:spcAft>
              <a:buSzPts val="1800"/>
              <a:buChar char="●"/>
            </a:pPr>
            <a:r>
              <a:rPr lang="en"/>
              <a:t>Kristen Finch presented containerization using AppTainer on Tillicum</a:t>
            </a:r>
            <a:endParaRPr/>
          </a:p>
          <a:p>
            <a:pPr indent="-317500" lvl="1" marL="914400" rtl="0" algn="l">
              <a:spcBef>
                <a:spcPts val="0"/>
              </a:spcBef>
              <a:spcAft>
                <a:spcPts val="0"/>
              </a:spcAft>
              <a:buSzPts val="1400"/>
              <a:buChar char="○"/>
            </a:pPr>
            <a:r>
              <a:rPr lang="en"/>
              <a:t>Including automatic translation from Docker Containers</a:t>
            </a:r>
            <a:endParaRPr/>
          </a:p>
          <a:p>
            <a:pPr indent="-342900" lvl="0" marL="457200" rtl="0" algn="l">
              <a:spcBef>
                <a:spcPts val="0"/>
              </a:spcBef>
              <a:spcAft>
                <a:spcPts val="0"/>
              </a:spcAft>
              <a:buSzPts val="1800"/>
              <a:buChar char="●"/>
            </a:pPr>
            <a:r>
              <a:rPr lang="en"/>
              <a:t>Naomi Alterman teaches Docker in MSE544</a:t>
            </a:r>
            <a:endParaRPr/>
          </a:p>
          <a:p>
            <a:pPr indent="-342900" lvl="0" marL="457200" rtl="0" algn="l">
              <a:spcBef>
                <a:spcPts val="0"/>
              </a:spcBef>
              <a:spcAft>
                <a:spcPts val="0"/>
              </a:spcAft>
              <a:buSzPts val="1800"/>
              <a:buChar char="●"/>
            </a:pPr>
            <a:r>
              <a:rPr lang="en"/>
              <a:t>The Carpentries features a Docker tutorial</a:t>
            </a:r>
            <a:endParaRPr/>
          </a:p>
          <a:p>
            <a:pPr indent="0" lvl="0" marL="457200" rtl="0" algn="l">
              <a:spcBef>
                <a:spcPts val="1200"/>
              </a:spcBef>
              <a:spcAft>
                <a:spcPts val="0"/>
              </a:spcAft>
              <a:buNone/>
            </a:pPr>
            <a:r>
              <a:t/>
            </a:r>
            <a:endParaRPr/>
          </a:p>
          <a:p>
            <a:pPr indent="-342900" lvl="0" marL="457200" rtl="0" algn="l">
              <a:spcBef>
                <a:spcPts val="1200"/>
              </a:spcBef>
              <a:spcAft>
                <a:spcPts val="0"/>
              </a:spcAft>
              <a:buSzPts val="1800"/>
              <a:buChar char="●"/>
            </a:pPr>
            <a:r>
              <a:rPr lang="en"/>
              <a:t>Why two (or more) flavors of Container?</a:t>
            </a:r>
            <a:endParaRPr/>
          </a:p>
          <a:p>
            <a:pPr indent="-342900" lvl="0" marL="457200" rtl="0" algn="l">
              <a:spcBef>
                <a:spcPts val="0"/>
              </a:spcBef>
              <a:spcAft>
                <a:spcPts val="0"/>
              </a:spcAft>
              <a:buSzPts val="1800"/>
              <a:buChar char="●"/>
            </a:pPr>
            <a:r>
              <a:rPr lang="en"/>
              <a:t>Why ‘Docker Desktop’ + the docker command?</a:t>
            </a:r>
            <a:endParaRPr/>
          </a:p>
        </p:txBody>
      </p:sp>
      <p:pic>
        <p:nvPicPr>
          <p:cNvPr id="138" name="Google Shape;138;p24"/>
          <p:cNvPicPr preferRelativeResize="0"/>
          <p:nvPr/>
        </p:nvPicPr>
        <p:blipFill>
          <a:blip r:embed="rId3">
            <a:alphaModFix/>
          </a:blip>
          <a:stretch>
            <a:fillRect/>
          </a:stretch>
        </p:blipFill>
        <p:spPr>
          <a:xfrm>
            <a:off x="1536863" y="4499125"/>
            <a:ext cx="2733675" cy="6000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5"/>
          <p:cNvSpPr txBox="1"/>
          <p:nvPr>
            <p:ph type="title"/>
          </p:nvPr>
        </p:nvSpPr>
        <p:spPr>
          <a:xfrm>
            <a:off x="311700" y="7352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Read Later: Docker Containers in a nutshell</a:t>
            </a:r>
            <a:endParaRPr/>
          </a:p>
        </p:txBody>
      </p:sp>
      <p:sp>
        <p:nvSpPr>
          <p:cNvPr id="144" name="Google Shape;144;p25"/>
          <p:cNvSpPr txBox="1"/>
          <p:nvPr>
            <p:ph idx="1" type="body"/>
          </p:nvPr>
        </p:nvSpPr>
        <p:spPr>
          <a:xfrm>
            <a:off x="311700" y="148270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000">
                <a:solidFill>
                  <a:srgbClr val="616161"/>
                </a:solidFill>
                <a:highlight>
                  <a:srgbClr val="F5F5F5"/>
                </a:highlight>
              </a:rPr>
              <a:t>There are three central nouns in the Docker ecosystem:</a:t>
            </a:r>
            <a:r>
              <a:rPr lang="en" sz="1000">
                <a:solidFill>
                  <a:srgbClr val="616161"/>
                </a:solidFill>
                <a:highlight>
                  <a:srgbClr val="F5F5F5"/>
                </a:highlight>
              </a:rPr>
              <a:t> </a:t>
            </a:r>
            <a:r>
              <a:rPr b="1" i="1" lang="en" sz="1000">
                <a:solidFill>
                  <a:srgbClr val="616161"/>
                </a:solidFill>
                <a:highlight>
                  <a:srgbClr val="F5F5F5"/>
                </a:highlight>
                <a:latin typeface="Courier New"/>
                <a:ea typeface="Courier New"/>
                <a:cs typeface="Courier New"/>
                <a:sym typeface="Courier New"/>
              </a:rPr>
              <a:t>Dockerfile</a:t>
            </a:r>
            <a:r>
              <a:rPr lang="en" sz="1000">
                <a:solidFill>
                  <a:srgbClr val="616161"/>
                </a:solidFill>
                <a:highlight>
                  <a:srgbClr val="F5F5F5"/>
                </a:highlight>
              </a:rPr>
              <a:t>, </a:t>
            </a:r>
            <a:r>
              <a:rPr b="1" i="1" lang="en" sz="1000">
                <a:solidFill>
                  <a:srgbClr val="616161"/>
                </a:solidFill>
                <a:highlight>
                  <a:srgbClr val="F5F5F5"/>
                </a:highlight>
              </a:rPr>
              <a:t>Image</a:t>
            </a:r>
            <a:r>
              <a:rPr lang="en" sz="1000">
                <a:solidFill>
                  <a:srgbClr val="616161"/>
                </a:solidFill>
                <a:highlight>
                  <a:srgbClr val="F5F5F5"/>
                </a:highlight>
              </a:rPr>
              <a:t>, and </a:t>
            </a:r>
            <a:r>
              <a:rPr b="1" i="1" lang="en" sz="1000">
                <a:solidFill>
                  <a:srgbClr val="616161"/>
                </a:solidFill>
                <a:highlight>
                  <a:srgbClr val="F5F5F5"/>
                </a:highlight>
              </a:rPr>
              <a:t>Container</a:t>
            </a:r>
            <a:r>
              <a:rPr lang="en" sz="1000">
                <a:solidFill>
                  <a:srgbClr val="616161"/>
                </a:solidFill>
                <a:highlight>
                  <a:srgbClr val="F5F5F5"/>
                </a:highlight>
              </a:rPr>
              <a:t>. </a:t>
            </a:r>
            <a:endParaRPr sz="1000">
              <a:solidFill>
                <a:srgbClr val="616161"/>
              </a:solidFill>
              <a:highlight>
                <a:srgbClr val="F5F5F5"/>
              </a:highlight>
            </a:endParaRPr>
          </a:p>
          <a:p>
            <a:pPr indent="0" lvl="0" marL="0" rtl="0" algn="l">
              <a:spcBef>
                <a:spcPts val="700"/>
              </a:spcBef>
              <a:spcAft>
                <a:spcPts val="0"/>
              </a:spcAft>
              <a:buNone/>
            </a:pPr>
            <a:r>
              <a:rPr b="1" lang="en" sz="1000">
                <a:solidFill>
                  <a:srgbClr val="616161"/>
                </a:solidFill>
                <a:highlight>
                  <a:srgbClr val="F5F5F5"/>
                </a:highlight>
                <a:latin typeface="Courier New"/>
                <a:ea typeface="Courier New"/>
                <a:cs typeface="Courier New"/>
                <a:sym typeface="Courier New"/>
              </a:rPr>
              <a:t>Dockerfile</a:t>
            </a:r>
            <a:r>
              <a:rPr lang="en" sz="1000">
                <a:solidFill>
                  <a:srgbClr val="616161"/>
                </a:solidFill>
                <a:highlight>
                  <a:srgbClr val="F5F5F5"/>
                </a:highlight>
              </a:rPr>
              <a:t> </a:t>
            </a:r>
            <a:r>
              <a:rPr lang="en" sz="1000">
                <a:solidFill>
                  <a:srgbClr val="616161"/>
                </a:solidFill>
                <a:highlight>
                  <a:srgbClr val="F5F5F5"/>
                </a:highlight>
              </a:rPr>
              <a:t>is a text file we edit and read. Our aim is to create a Container that executes some code-based task; either continuously as with a web app; or episodically as in analysis of a dataset. Web apps are punchier for demos; analysis is more what a STEM person would use in practice. </a:t>
            </a:r>
            <a:endParaRPr sz="1000">
              <a:solidFill>
                <a:srgbClr val="616161"/>
              </a:solidFill>
              <a:highlight>
                <a:srgbClr val="F5F5F5"/>
              </a:highlight>
            </a:endParaRPr>
          </a:p>
          <a:p>
            <a:pPr indent="0" lvl="0" marL="0" rtl="0" algn="l">
              <a:spcBef>
                <a:spcPts val="700"/>
              </a:spcBef>
              <a:spcAft>
                <a:spcPts val="0"/>
              </a:spcAft>
              <a:buClr>
                <a:schemeClr val="dk1"/>
              </a:buClr>
              <a:buSzPts val="1100"/>
              <a:buFont typeface="Arial"/>
              <a:buNone/>
            </a:pPr>
            <a:r>
              <a:rPr lang="en" sz="1000">
                <a:solidFill>
                  <a:srgbClr val="616161"/>
                </a:solidFill>
                <a:highlight>
                  <a:srgbClr val="F5F5F5"/>
                </a:highlight>
              </a:rPr>
              <a:t>Repeating:</a:t>
            </a:r>
            <a:r>
              <a:rPr lang="en" sz="1000">
                <a:solidFill>
                  <a:srgbClr val="616161"/>
                </a:solidFill>
                <a:highlight>
                  <a:srgbClr val="F5F5F5"/>
                </a:highlight>
              </a:rPr>
              <a:t> </a:t>
            </a:r>
            <a:r>
              <a:rPr b="1" lang="en" sz="1000">
                <a:solidFill>
                  <a:srgbClr val="616161"/>
                </a:solidFill>
                <a:highlight>
                  <a:srgbClr val="F5F5F5"/>
                </a:highlight>
                <a:latin typeface="Courier New"/>
                <a:ea typeface="Courier New"/>
                <a:cs typeface="Courier New"/>
                <a:sym typeface="Courier New"/>
              </a:rPr>
              <a:t>Dockerfile</a:t>
            </a:r>
            <a:r>
              <a:rPr lang="en" sz="1000">
                <a:solidFill>
                  <a:srgbClr val="616161"/>
                </a:solidFill>
                <a:highlight>
                  <a:srgbClr val="F5F5F5"/>
                </a:highlight>
              </a:rPr>
              <a:t>, Image, Container. </a:t>
            </a:r>
            <a:r>
              <a:rPr b="1" lang="en" sz="1000">
                <a:solidFill>
                  <a:srgbClr val="616161"/>
                </a:solidFill>
                <a:highlight>
                  <a:srgbClr val="F5F5F5"/>
                </a:highlight>
                <a:latin typeface="Courier New"/>
                <a:ea typeface="Courier New"/>
                <a:cs typeface="Courier New"/>
                <a:sym typeface="Courier New"/>
              </a:rPr>
              <a:t>Dockerfile</a:t>
            </a:r>
            <a:r>
              <a:rPr lang="en" sz="1000">
                <a:solidFill>
                  <a:srgbClr val="616161"/>
                </a:solidFill>
                <a:highlight>
                  <a:srgbClr val="F5F5F5"/>
                </a:highlight>
              </a:rPr>
              <a:t> </a:t>
            </a:r>
            <a:r>
              <a:rPr lang="en" sz="1000">
                <a:solidFill>
                  <a:srgbClr val="616161"/>
                </a:solidFill>
                <a:highlight>
                  <a:srgbClr val="F5F5F5"/>
                </a:highlight>
              </a:rPr>
              <a:t>is the starting point of a recipe for the Container. We create it within a dedicated project folder along with other components. We want to run say k-Means on a dataset. We write some Python code for this; and we also need SciKit-Learn Library with its k-Means method. So we have three files in our project folder: </a:t>
            </a:r>
            <a:r>
              <a:rPr b="1" lang="en" sz="1000">
                <a:solidFill>
                  <a:srgbClr val="616161"/>
                </a:solidFill>
                <a:highlight>
                  <a:srgbClr val="F5F5F5"/>
                </a:highlight>
                <a:latin typeface="Courier New"/>
                <a:ea typeface="Courier New"/>
                <a:cs typeface="Courier New"/>
                <a:sym typeface="Courier New"/>
              </a:rPr>
              <a:t>Dockerfile</a:t>
            </a:r>
            <a:r>
              <a:rPr lang="en" sz="1000">
                <a:solidFill>
                  <a:srgbClr val="616161"/>
                </a:solidFill>
                <a:highlight>
                  <a:srgbClr val="F5F5F5"/>
                </a:highlight>
              </a:rPr>
              <a:t>, Python code in</a:t>
            </a:r>
            <a:r>
              <a:rPr lang="en" sz="1000">
                <a:solidFill>
                  <a:srgbClr val="616161"/>
                </a:solidFill>
                <a:highlight>
                  <a:srgbClr val="F5F5F5"/>
                </a:highlight>
              </a:rPr>
              <a:t> </a:t>
            </a:r>
            <a:r>
              <a:rPr b="1" lang="en" sz="1000">
                <a:solidFill>
                  <a:srgbClr val="616161"/>
                </a:solidFill>
                <a:highlight>
                  <a:srgbClr val="F5F5F5"/>
                </a:highlight>
                <a:latin typeface="Courier New"/>
                <a:ea typeface="Courier New"/>
                <a:cs typeface="Courier New"/>
                <a:sym typeface="Courier New"/>
              </a:rPr>
              <a:t>app.py</a:t>
            </a:r>
            <a:r>
              <a:rPr lang="en" sz="1000">
                <a:solidFill>
                  <a:srgbClr val="616161"/>
                </a:solidFill>
                <a:highlight>
                  <a:srgbClr val="F5F5F5"/>
                </a:highlight>
              </a:rPr>
              <a:t>, and a </a:t>
            </a:r>
            <a:r>
              <a:rPr b="1" lang="en" sz="1000">
                <a:solidFill>
                  <a:srgbClr val="616161"/>
                </a:solidFill>
                <a:highlight>
                  <a:srgbClr val="F5F5F5"/>
                </a:highlight>
                <a:latin typeface="Courier New"/>
                <a:ea typeface="Courier New"/>
                <a:cs typeface="Courier New"/>
                <a:sym typeface="Courier New"/>
              </a:rPr>
              <a:t>requirements.txt</a:t>
            </a:r>
            <a:r>
              <a:rPr lang="en" sz="1000">
                <a:solidFill>
                  <a:srgbClr val="616161"/>
                </a:solidFill>
                <a:highlight>
                  <a:srgbClr val="F5F5F5"/>
                </a:highlight>
              </a:rPr>
              <a:t> file that lists scikit-learn, a necessary Library.</a:t>
            </a:r>
            <a:endParaRPr sz="1000">
              <a:solidFill>
                <a:srgbClr val="616161"/>
              </a:solidFill>
              <a:highlight>
                <a:srgbClr val="F5F5F5"/>
              </a:highlight>
            </a:endParaRPr>
          </a:p>
          <a:p>
            <a:pPr indent="0" lvl="0" marL="0" rtl="0" algn="l">
              <a:spcBef>
                <a:spcPts val="700"/>
              </a:spcBef>
              <a:spcAft>
                <a:spcPts val="0"/>
              </a:spcAft>
              <a:buClr>
                <a:schemeClr val="dk1"/>
              </a:buClr>
              <a:buSzPts val="1100"/>
              <a:buFont typeface="Arial"/>
              <a:buNone/>
            </a:pPr>
            <a:r>
              <a:rPr lang="en" sz="1000">
                <a:solidFill>
                  <a:srgbClr val="616161"/>
                </a:solidFill>
                <a:highlight>
                  <a:srgbClr val="F5F5F5"/>
                </a:highlight>
              </a:rPr>
              <a:t>Data access we saw in the Bind Mount, part 4: Containers need to connect to the wide world.</a:t>
            </a:r>
            <a:endParaRPr sz="1000">
              <a:solidFill>
                <a:srgbClr val="616161"/>
              </a:solidFill>
              <a:highlight>
                <a:srgbClr val="F5F5F5"/>
              </a:highlight>
            </a:endParaRPr>
          </a:p>
          <a:p>
            <a:pPr indent="0" lvl="0" marL="0" rtl="0" algn="l">
              <a:spcBef>
                <a:spcPts val="700"/>
              </a:spcBef>
              <a:spcAft>
                <a:spcPts val="0"/>
              </a:spcAft>
              <a:buClr>
                <a:schemeClr val="dk1"/>
              </a:buClr>
              <a:buSzPts val="1100"/>
              <a:buFont typeface="Arial"/>
              <a:buNone/>
            </a:pPr>
            <a:r>
              <a:rPr lang="en" sz="1000">
                <a:solidFill>
                  <a:srgbClr val="616161"/>
                </a:solidFill>
                <a:highlight>
                  <a:srgbClr val="F5F5F5"/>
                </a:highlight>
              </a:rPr>
              <a:t>So the </a:t>
            </a:r>
            <a:r>
              <a:rPr b="1" lang="en" sz="1000">
                <a:solidFill>
                  <a:srgbClr val="616161"/>
                </a:solidFill>
                <a:highlight>
                  <a:srgbClr val="F5F5F5"/>
                </a:highlight>
                <a:latin typeface="Courier New"/>
                <a:ea typeface="Courier New"/>
                <a:cs typeface="Courier New"/>
                <a:sym typeface="Courier New"/>
              </a:rPr>
              <a:t>Dockerfile</a:t>
            </a:r>
            <a:r>
              <a:rPr lang="en" sz="1000">
                <a:solidFill>
                  <a:srgbClr val="616161"/>
                </a:solidFill>
                <a:highlight>
                  <a:srgbClr val="F5F5F5"/>
                </a:highlight>
              </a:rPr>
              <a:t> behaves as an organizing set of instructions; and the Container executes a task when it runs. The Image is an intermediate template. It does not execute. It is a </a:t>
            </a:r>
            <a:r>
              <a:rPr i="1" lang="en" sz="1000">
                <a:solidFill>
                  <a:srgbClr val="616161"/>
                </a:solidFill>
                <a:highlight>
                  <a:srgbClr val="F5F5F5"/>
                </a:highlight>
              </a:rPr>
              <a:t>snapshot </a:t>
            </a:r>
            <a:r>
              <a:rPr lang="en" sz="1000">
                <a:solidFill>
                  <a:srgbClr val="616161"/>
                </a:solidFill>
                <a:highlight>
                  <a:srgbClr val="F5F5F5"/>
                </a:highlight>
              </a:rPr>
              <a:t>that includes everything needed to create and run the Container inside the Docker VM.</a:t>
            </a:r>
            <a:endParaRPr sz="1000">
              <a:solidFill>
                <a:srgbClr val="616161"/>
              </a:solidFill>
              <a:highlight>
                <a:srgbClr val="F5F5F5"/>
              </a:highlight>
            </a:endParaRPr>
          </a:p>
          <a:p>
            <a:pPr indent="0" lvl="0" marL="0" rtl="0" algn="l">
              <a:spcBef>
                <a:spcPts val="700"/>
              </a:spcBef>
              <a:spcAft>
                <a:spcPts val="0"/>
              </a:spcAft>
              <a:buNone/>
            </a:pPr>
            <a:r>
              <a:rPr lang="en" sz="1000">
                <a:solidFill>
                  <a:srgbClr val="616161"/>
                </a:solidFill>
                <a:highlight>
                  <a:srgbClr val="F5F5F5"/>
                </a:highlight>
              </a:rPr>
              <a:t>We built an Image using the command </a:t>
            </a:r>
            <a:r>
              <a:rPr b="1" lang="en" sz="1100">
                <a:solidFill>
                  <a:srgbClr val="333333"/>
                </a:solidFill>
                <a:highlight>
                  <a:srgbClr val="F5F5F5"/>
                </a:highlight>
                <a:latin typeface="Courier New"/>
                <a:ea typeface="Courier New"/>
                <a:cs typeface="Courier New"/>
                <a:sym typeface="Courier New"/>
              </a:rPr>
              <a:t>docker build</a:t>
            </a:r>
            <a:r>
              <a:rPr lang="en" sz="1100">
                <a:solidFill>
                  <a:schemeClr val="dk1"/>
                </a:solidFill>
              </a:rPr>
              <a:t>. The subsequent command </a:t>
            </a:r>
            <a:r>
              <a:rPr b="1" lang="en" sz="1100">
                <a:solidFill>
                  <a:srgbClr val="333333"/>
                </a:solidFill>
                <a:highlight>
                  <a:srgbClr val="F5F5F5"/>
                </a:highlight>
                <a:latin typeface="Courier New"/>
                <a:ea typeface="Courier New"/>
                <a:cs typeface="Courier New"/>
                <a:sym typeface="Courier New"/>
              </a:rPr>
              <a:t>docker run</a:t>
            </a:r>
            <a:r>
              <a:rPr lang="en" sz="1100">
                <a:solidFill>
                  <a:schemeClr val="dk1"/>
                </a:solidFill>
              </a:rPr>
              <a:t> creates a Container from the Image and then runs it. The image remains unchanged so the process can be repeated.</a:t>
            </a:r>
            <a:endParaRPr sz="1100">
              <a:solidFill>
                <a:schemeClr val="dk1"/>
              </a:solidFill>
            </a:endParaRPr>
          </a:p>
          <a:p>
            <a:pPr indent="0" lvl="0" marL="0" rtl="0" algn="l">
              <a:spcBef>
                <a:spcPts val="700"/>
              </a:spcBef>
              <a:spcAft>
                <a:spcPts val="0"/>
              </a:spcAft>
              <a:buNone/>
            </a:pPr>
            <a:r>
              <a:rPr lang="en" sz="1100">
                <a:solidFill>
                  <a:schemeClr val="dk1"/>
                </a:solidFill>
              </a:rPr>
              <a:t>Crossing the fine line into too much detail: An Image is actually a layered filesystem. If we change only the Python code and do a new build: Docker will rebuild just that layer, not the entire Image: Faster development.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Docker Vocabulary</a:t>
            </a:r>
            <a:endParaRPr/>
          </a:p>
        </p:txBody>
      </p:sp>
      <p:sp>
        <p:nvSpPr>
          <p:cNvPr id="150" name="Google Shape;150;p2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
              <a:t>Docker Desktop</a:t>
            </a:r>
            <a:endParaRPr/>
          </a:p>
          <a:p>
            <a:pPr indent="-342900" lvl="0" marL="457200" rtl="0" algn="l">
              <a:spcBef>
                <a:spcPts val="0"/>
              </a:spcBef>
              <a:spcAft>
                <a:spcPts val="0"/>
              </a:spcAft>
              <a:buSzPts val="1800"/>
              <a:buChar char="-"/>
            </a:pPr>
            <a:r>
              <a:rPr lang="en"/>
              <a:t>Docker CLI				</a:t>
            </a:r>
            <a:r>
              <a:rPr b="1" lang="en">
                <a:latin typeface="Courier New"/>
                <a:ea typeface="Courier New"/>
                <a:cs typeface="Courier New"/>
                <a:sym typeface="Courier New"/>
              </a:rPr>
              <a:t>docker </a:t>
            </a:r>
            <a:r>
              <a:rPr b="1" lang="en">
                <a:highlight>
                  <a:srgbClr val="C9DAF8"/>
                </a:highlight>
                <a:latin typeface="Courier New"/>
                <a:ea typeface="Courier New"/>
                <a:cs typeface="Courier New"/>
                <a:sym typeface="Courier New"/>
              </a:rPr>
              <a:t>&lt;task name&gt;</a:t>
            </a:r>
            <a:r>
              <a:rPr b="1" lang="en">
                <a:latin typeface="Courier New"/>
                <a:ea typeface="Courier New"/>
                <a:cs typeface="Courier New"/>
                <a:sym typeface="Courier New"/>
              </a:rPr>
              <a:t> &lt;qualifiers&gt;</a:t>
            </a:r>
            <a:endParaRPr b="1">
              <a:latin typeface="Courier New"/>
              <a:ea typeface="Courier New"/>
              <a:cs typeface="Courier New"/>
              <a:sym typeface="Courier New"/>
            </a:endParaRPr>
          </a:p>
          <a:p>
            <a:pPr indent="-342900" lvl="0" marL="457200" rtl="0" algn="l">
              <a:spcBef>
                <a:spcPts val="0"/>
              </a:spcBef>
              <a:spcAft>
                <a:spcPts val="0"/>
              </a:spcAft>
              <a:buSzPts val="1800"/>
              <a:buChar char="-"/>
            </a:pPr>
            <a:r>
              <a:rPr lang="en">
                <a:highlight>
                  <a:schemeClr val="accent6"/>
                </a:highlight>
              </a:rPr>
              <a:t>Dockerfile</a:t>
            </a:r>
            <a:endParaRPr>
              <a:highlight>
                <a:schemeClr val="accent6"/>
              </a:highlight>
            </a:endParaRPr>
          </a:p>
          <a:p>
            <a:pPr indent="-342900" lvl="0" marL="457200" rtl="0" algn="l">
              <a:spcBef>
                <a:spcPts val="0"/>
              </a:spcBef>
              <a:spcAft>
                <a:spcPts val="0"/>
              </a:spcAft>
              <a:buSzPts val="1800"/>
              <a:buChar char="-"/>
            </a:pPr>
            <a:r>
              <a:rPr lang="en">
                <a:highlight>
                  <a:srgbClr val="00FFFF"/>
                </a:highlight>
              </a:rPr>
              <a:t>Image</a:t>
            </a:r>
            <a:endParaRPr>
              <a:highlight>
                <a:srgbClr val="00FFFF"/>
              </a:highlight>
            </a:endParaRPr>
          </a:p>
          <a:p>
            <a:pPr indent="-342900" lvl="0" marL="457200" rtl="0" algn="l">
              <a:spcBef>
                <a:spcPts val="0"/>
              </a:spcBef>
              <a:spcAft>
                <a:spcPts val="0"/>
              </a:spcAft>
              <a:buSzPts val="1800"/>
              <a:buChar char="-"/>
            </a:pPr>
            <a:r>
              <a:rPr lang="en">
                <a:highlight>
                  <a:srgbClr val="00FF00"/>
                </a:highlight>
              </a:rPr>
              <a:t>C</a:t>
            </a:r>
            <a:r>
              <a:rPr lang="en">
                <a:highlight>
                  <a:srgbClr val="00FF00"/>
                </a:highlight>
              </a:rPr>
              <a:t>ontainer</a:t>
            </a:r>
            <a:endParaRPr>
              <a:highlight>
                <a:srgbClr val="00FF00"/>
              </a:highlight>
            </a:endParaRPr>
          </a:p>
          <a:p>
            <a:pPr indent="-342900" lvl="0" marL="457200" rtl="0" algn="l">
              <a:spcBef>
                <a:spcPts val="0"/>
              </a:spcBef>
              <a:spcAft>
                <a:spcPts val="0"/>
              </a:spcAft>
              <a:buSzPts val="1800"/>
              <a:buChar char="-"/>
            </a:pPr>
            <a:r>
              <a:rPr lang="en"/>
              <a:t>Docker workflow 				pull → create → run → exit</a:t>
            </a:r>
            <a:endParaRPr/>
          </a:p>
          <a:p>
            <a:pPr indent="-342900" lvl="0" marL="457200" rtl="0" algn="l">
              <a:spcBef>
                <a:spcPts val="0"/>
              </a:spcBef>
              <a:spcAft>
                <a:spcPts val="0"/>
              </a:spcAft>
              <a:buSzPts val="1800"/>
              <a:buChar char="-"/>
            </a:pPr>
            <a:r>
              <a:rPr lang="en"/>
              <a:t>Docker hub</a:t>
            </a:r>
            <a:endParaRPr/>
          </a:p>
          <a:p>
            <a:pPr indent="-342900" lvl="0" marL="457200" rtl="0" algn="l">
              <a:spcBef>
                <a:spcPts val="0"/>
              </a:spcBef>
              <a:spcAft>
                <a:spcPts val="0"/>
              </a:spcAft>
              <a:buSzPts val="1800"/>
              <a:buChar char="-"/>
            </a:pPr>
            <a:r>
              <a:rPr lang="en"/>
              <a:t>Docker Engine</a:t>
            </a:r>
            <a:endParaRPr/>
          </a:p>
          <a:p>
            <a:pPr indent="-342900" lvl="0" marL="457200" rtl="0" algn="l">
              <a:spcBef>
                <a:spcPts val="0"/>
              </a:spcBef>
              <a:spcAft>
                <a:spcPts val="0"/>
              </a:spcAft>
              <a:buSzPts val="1800"/>
              <a:buChar char="-"/>
            </a:pPr>
            <a:r>
              <a:rPr lang="en"/>
              <a:t>Docker client</a:t>
            </a:r>
            <a:endParaRPr/>
          </a:p>
          <a:p>
            <a:pPr indent="-342900" lvl="0" marL="457200" rtl="0" algn="l">
              <a:spcBef>
                <a:spcPts val="0"/>
              </a:spcBef>
              <a:spcAft>
                <a:spcPts val="0"/>
              </a:spcAft>
              <a:buSzPts val="1800"/>
              <a:buChar char="-"/>
            </a:pPr>
            <a:r>
              <a:rPr lang="en"/>
              <a:t>Docker daemon</a:t>
            </a:r>
            <a:endParaRPr/>
          </a:p>
          <a:p>
            <a:pPr indent="-342900" lvl="0" marL="457200" rtl="0" algn="l">
              <a:spcBef>
                <a:spcPts val="0"/>
              </a:spcBef>
              <a:spcAft>
                <a:spcPts val="0"/>
              </a:spcAft>
              <a:buSzPts val="1800"/>
              <a:buChar char="-"/>
            </a:pPr>
            <a:r>
              <a:rPr lang="en"/>
              <a:t>Docker root</a:t>
            </a:r>
            <a:endParaRPr/>
          </a:p>
          <a:p>
            <a:pPr indent="-342900" lvl="0" marL="457200" rtl="0" algn="l">
              <a:spcBef>
                <a:spcPts val="0"/>
              </a:spcBef>
              <a:spcAft>
                <a:spcPts val="0"/>
              </a:spcAft>
              <a:buSzPts val="1800"/>
              <a:buChar char="-"/>
            </a:pPr>
            <a:r>
              <a:rPr lang="en"/>
              <a:t>Docker Compose</a:t>
            </a:r>
            <a:endParaRPr/>
          </a:p>
        </p:txBody>
      </p:sp>
      <p:cxnSp>
        <p:nvCxnSpPr>
          <p:cNvPr id="151" name="Google Shape;151;p26"/>
          <p:cNvCxnSpPr/>
          <p:nvPr/>
        </p:nvCxnSpPr>
        <p:spPr>
          <a:xfrm>
            <a:off x="2071100" y="1626550"/>
            <a:ext cx="1456800" cy="38100"/>
          </a:xfrm>
          <a:prstGeom prst="straightConnector1">
            <a:avLst/>
          </a:prstGeom>
          <a:noFill/>
          <a:ln cap="flat" cmpd="sng" w="9525">
            <a:solidFill>
              <a:srgbClr val="FF0000"/>
            </a:solidFill>
            <a:prstDash val="solid"/>
            <a:round/>
            <a:headEnd len="med" w="med" type="none"/>
            <a:tailEnd len="med" w="med" type="triangl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7"/>
          <p:cNvSpPr txBox="1"/>
          <p:nvPr>
            <p:ph type="title"/>
          </p:nvPr>
        </p:nvSpPr>
        <p:spPr>
          <a:xfrm>
            <a:off x="311700" y="6210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Container </a:t>
            </a:r>
            <a:r>
              <a:rPr i="1" lang="en" sz="3133"/>
              <a:t>Duality</a:t>
            </a:r>
            <a:endParaRPr i="1" sz="3133"/>
          </a:p>
        </p:txBody>
      </p:sp>
      <p:sp>
        <p:nvSpPr>
          <p:cNvPr id="157" name="Google Shape;157;p27"/>
          <p:cNvSpPr txBox="1"/>
          <p:nvPr>
            <p:ph idx="1" type="body"/>
          </p:nvPr>
        </p:nvSpPr>
        <p:spPr>
          <a:xfrm>
            <a:off x="151250" y="593625"/>
            <a:ext cx="6265200" cy="3874200"/>
          </a:xfrm>
          <a:prstGeom prst="rect">
            <a:avLst/>
          </a:prstGeom>
        </p:spPr>
        <p:txBody>
          <a:bodyPr anchorCtr="0" anchor="t" bIns="91425" lIns="91425" spcFirstLastPara="1" rIns="91425" wrap="square" tIns="91425">
            <a:normAutofit fontScale="40000" lnSpcReduction="20000"/>
          </a:bodyPr>
          <a:lstStyle/>
          <a:p>
            <a:pPr indent="-274320" lvl="0" marL="457200" rtl="0" algn="l">
              <a:spcBef>
                <a:spcPts val="0"/>
              </a:spcBef>
              <a:spcAft>
                <a:spcPts val="0"/>
              </a:spcAft>
              <a:buSzPct val="64285"/>
              <a:buChar char="-"/>
            </a:pPr>
            <a:r>
              <a:rPr lang="en" sz="2800">
                <a:solidFill>
                  <a:schemeClr val="dk1"/>
                </a:solidFill>
              </a:rPr>
              <a:t>On one hand: Containers function like </a:t>
            </a:r>
            <a:r>
              <a:rPr lang="en" sz="4254">
                <a:solidFill>
                  <a:schemeClr val="dk1"/>
                </a:solidFill>
                <a:latin typeface="Varela Round"/>
                <a:ea typeface="Varela Round"/>
                <a:cs typeface="Varela Round"/>
                <a:sym typeface="Varela Round"/>
              </a:rPr>
              <a:t>hermetic </a:t>
            </a:r>
            <a:r>
              <a:rPr lang="en" sz="2800">
                <a:solidFill>
                  <a:schemeClr val="dk1"/>
                </a:solidFill>
              </a:rPr>
              <a:t>automaton</a:t>
            </a:r>
            <a:r>
              <a:rPr lang="en" sz="2800">
                <a:solidFill>
                  <a:schemeClr val="dk1"/>
                </a:solidFill>
              </a:rPr>
              <a:t> VMs (that </a:t>
            </a:r>
            <a:r>
              <a:rPr i="1" lang="en" sz="2800">
                <a:solidFill>
                  <a:schemeClr val="dk1"/>
                </a:solidFill>
              </a:rPr>
              <a:t>borrow </a:t>
            </a:r>
            <a:r>
              <a:rPr lang="en" sz="2800">
                <a:solidFill>
                  <a:schemeClr val="dk1"/>
                </a:solidFill>
              </a:rPr>
              <a:t>the OS)... </a:t>
            </a:r>
            <a:endParaRPr sz="2800">
              <a:solidFill>
                <a:schemeClr val="dk1"/>
              </a:solidFill>
            </a:endParaRPr>
          </a:p>
          <a:p>
            <a:pPr indent="-264160" lvl="1" marL="914400" rtl="0" algn="l">
              <a:spcBef>
                <a:spcPts val="0"/>
              </a:spcBef>
              <a:spcAft>
                <a:spcPts val="0"/>
              </a:spcAft>
              <a:buSzPct val="50000"/>
              <a:buChar char="-"/>
            </a:pPr>
            <a:r>
              <a:rPr lang="en" sz="2800">
                <a:solidFill>
                  <a:schemeClr val="dk1"/>
                </a:solidFill>
              </a:rPr>
              <a:t>“I’m </a:t>
            </a:r>
            <a:r>
              <a:rPr b="1" i="1" lang="en" sz="2800">
                <a:solidFill>
                  <a:schemeClr val="dk1"/>
                </a:solidFill>
              </a:rPr>
              <a:t>not </a:t>
            </a:r>
            <a:r>
              <a:rPr lang="en" sz="2800">
                <a:solidFill>
                  <a:schemeClr val="dk1"/>
                </a:solidFill>
              </a:rPr>
              <a:t>a VM!!! …but I </a:t>
            </a:r>
            <a:r>
              <a:rPr i="1" lang="en" sz="2800">
                <a:solidFill>
                  <a:schemeClr val="dk1"/>
                </a:solidFill>
              </a:rPr>
              <a:t>am </a:t>
            </a:r>
            <a:r>
              <a:rPr b="1" i="1" lang="en" sz="2800">
                <a:solidFill>
                  <a:schemeClr val="dk1"/>
                </a:solidFill>
              </a:rPr>
              <a:t>isolated</a:t>
            </a:r>
            <a:r>
              <a:rPr lang="en" sz="2800">
                <a:solidFill>
                  <a:schemeClr val="dk1"/>
                </a:solidFill>
              </a:rPr>
              <a:t>” -the Container</a:t>
            </a:r>
            <a:endParaRPr sz="2800">
              <a:solidFill>
                <a:schemeClr val="dk1"/>
              </a:solidFill>
            </a:endParaRPr>
          </a:p>
          <a:p>
            <a:pPr indent="0" lvl="0" marL="914400" rtl="0" algn="l">
              <a:spcBef>
                <a:spcPts val="1200"/>
              </a:spcBef>
              <a:spcAft>
                <a:spcPts val="0"/>
              </a:spcAft>
              <a:buNone/>
            </a:pPr>
            <a:r>
              <a:t/>
            </a:r>
            <a:endParaRPr sz="2800">
              <a:solidFill>
                <a:schemeClr val="dk1"/>
              </a:solidFill>
            </a:endParaRPr>
          </a:p>
          <a:p>
            <a:pPr indent="-299720" lvl="0" marL="457200" rtl="0" algn="l">
              <a:spcBef>
                <a:spcPts val="1200"/>
              </a:spcBef>
              <a:spcAft>
                <a:spcPts val="0"/>
              </a:spcAft>
              <a:buClr>
                <a:schemeClr val="dk1"/>
              </a:buClr>
              <a:buSzPct val="100000"/>
              <a:buChar char="-"/>
            </a:pPr>
            <a:r>
              <a:rPr lang="en" sz="2800">
                <a:solidFill>
                  <a:schemeClr val="dk1"/>
                </a:solidFill>
              </a:rPr>
              <a:t>On the other hand: Containers need connectivity to the outside world</a:t>
            </a:r>
            <a:endParaRPr sz="2800">
              <a:solidFill>
                <a:schemeClr val="dk1"/>
              </a:solidFill>
            </a:endParaRPr>
          </a:p>
          <a:p>
            <a:pPr indent="-299719" lvl="1" marL="914400" rtl="0" algn="l">
              <a:spcBef>
                <a:spcPts val="0"/>
              </a:spcBef>
              <a:spcAft>
                <a:spcPts val="0"/>
              </a:spcAft>
              <a:buClr>
                <a:schemeClr val="dk1"/>
              </a:buClr>
              <a:buSzPct val="100000"/>
              <a:buChar char="-"/>
            </a:pPr>
            <a:r>
              <a:rPr lang="en" sz="2800">
                <a:solidFill>
                  <a:schemeClr val="dk1"/>
                </a:solidFill>
              </a:rPr>
              <a:t>Container to terminal or browser (</a:t>
            </a:r>
            <a:r>
              <a:rPr lang="en" sz="2800">
                <a:solidFill>
                  <a:schemeClr val="dk1"/>
                </a:solidFill>
                <a:highlight>
                  <a:schemeClr val="accent6"/>
                </a:highlight>
              </a:rPr>
              <a:t>port</a:t>
            </a:r>
            <a:r>
              <a:rPr lang="en" sz="2800">
                <a:solidFill>
                  <a:schemeClr val="dk1"/>
                </a:solidFill>
              </a:rPr>
              <a:t>-wise)</a:t>
            </a:r>
            <a:endParaRPr sz="2800">
              <a:solidFill>
                <a:schemeClr val="dk1"/>
              </a:solidFill>
            </a:endParaRPr>
          </a:p>
          <a:p>
            <a:pPr indent="-299719" lvl="1" marL="914400" rtl="0" algn="l">
              <a:spcBef>
                <a:spcPts val="0"/>
              </a:spcBef>
              <a:spcAft>
                <a:spcPts val="0"/>
              </a:spcAft>
              <a:buClr>
                <a:schemeClr val="dk1"/>
              </a:buClr>
              <a:buSzPct val="100000"/>
              <a:buChar char="-"/>
            </a:pPr>
            <a:r>
              <a:rPr lang="en" sz="2800">
                <a:solidFill>
                  <a:schemeClr val="dk1"/>
                </a:solidFill>
              </a:rPr>
              <a:t>Container to disk (</a:t>
            </a:r>
            <a:r>
              <a:rPr lang="en" sz="2800">
                <a:solidFill>
                  <a:schemeClr val="dk1"/>
                </a:solidFill>
                <a:highlight>
                  <a:schemeClr val="accent6"/>
                </a:highlight>
              </a:rPr>
              <a:t>volume</a:t>
            </a:r>
            <a:r>
              <a:rPr lang="en" sz="2800">
                <a:solidFill>
                  <a:schemeClr val="dk1"/>
                </a:solidFill>
              </a:rPr>
              <a:t>-wise)</a:t>
            </a:r>
            <a:endParaRPr sz="2800">
              <a:solidFill>
                <a:schemeClr val="dk1"/>
              </a:solidFill>
            </a:endParaRPr>
          </a:p>
          <a:p>
            <a:pPr indent="-299719" lvl="1" marL="914400" rtl="0" algn="l">
              <a:spcBef>
                <a:spcPts val="0"/>
              </a:spcBef>
              <a:spcAft>
                <a:spcPts val="0"/>
              </a:spcAft>
              <a:buClr>
                <a:schemeClr val="dk1"/>
              </a:buClr>
              <a:buSzPct val="100000"/>
              <a:buChar char="-"/>
            </a:pPr>
            <a:r>
              <a:rPr lang="en" sz="2800">
                <a:solidFill>
                  <a:schemeClr val="dk1"/>
                </a:solidFill>
              </a:rPr>
              <a:t>Container to Container (</a:t>
            </a:r>
            <a:r>
              <a:rPr lang="en" sz="2800">
                <a:solidFill>
                  <a:schemeClr val="dk1"/>
                </a:solidFill>
                <a:highlight>
                  <a:schemeClr val="accent6"/>
                </a:highlight>
              </a:rPr>
              <a:t>network</a:t>
            </a:r>
            <a:r>
              <a:rPr lang="en" sz="2800">
                <a:solidFill>
                  <a:schemeClr val="dk1"/>
                </a:solidFill>
              </a:rPr>
              <a:t>-wise)</a:t>
            </a:r>
            <a:endParaRPr sz="2800">
              <a:solidFill>
                <a:schemeClr val="dk1"/>
              </a:solidFill>
            </a:endParaRPr>
          </a:p>
          <a:p>
            <a:pPr indent="0" lvl="0" marL="914400" rtl="0" algn="l">
              <a:spcBef>
                <a:spcPts val="1200"/>
              </a:spcBef>
              <a:spcAft>
                <a:spcPts val="0"/>
              </a:spcAft>
              <a:buNone/>
            </a:pPr>
            <a:r>
              <a:t/>
            </a:r>
            <a:endParaRPr sz="2800">
              <a:solidFill>
                <a:schemeClr val="dk1"/>
              </a:solidFill>
            </a:endParaRPr>
          </a:p>
          <a:p>
            <a:pPr indent="-299720" lvl="0" marL="457200" rtl="0" algn="l">
              <a:spcBef>
                <a:spcPts val="1200"/>
              </a:spcBef>
              <a:spcAft>
                <a:spcPts val="0"/>
              </a:spcAft>
              <a:buClr>
                <a:schemeClr val="dk1"/>
              </a:buClr>
              <a:buSzPct val="100000"/>
              <a:buChar char="-"/>
            </a:pPr>
            <a:r>
              <a:rPr lang="en" sz="2800">
                <a:solidFill>
                  <a:schemeClr val="dk1"/>
                </a:solidFill>
              </a:rPr>
              <a:t>Today’s plan / Container-learner’s plan</a:t>
            </a:r>
            <a:endParaRPr sz="2800">
              <a:solidFill>
                <a:schemeClr val="dk1"/>
              </a:solidFill>
            </a:endParaRPr>
          </a:p>
          <a:p>
            <a:pPr indent="-299719" lvl="1" marL="914400" rtl="0" algn="l">
              <a:spcBef>
                <a:spcPts val="0"/>
              </a:spcBef>
              <a:spcAft>
                <a:spcPts val="0"/>
              </a:spcAft>
              <a:buClr>
                <a:schemeClr val="dk1"/>
              </a:buClr>
              <a:buSzPct val="100000"/>
              <a:buChar char="-"/>
            </a:pPr>
            <a:r>
              <a:rPr lang="en" sz="2800">
                <a:solidFill>
                  <a:schemeClr val="dk1"/>
                </a:solidFill>
              </a:rPr>
              <a:t>Get into the Container headspace</a:t>
            </a:r>
            <a:endParaRPr sz="2800">
              <a:solidFill>
                <a:schemeClr val="dk1"/>
              </a:solidFill>
            </a:endParaRPr>
          </a:p>
          <a:p>
            <a:pPr indent="-299719" lvl="1" marL="914400" rtl="0" algn="l">
              <a:spcBef>
                <a:spcPts val="0"/>
              </a:spcBef>
              <a:spcAft>
                <a:spcPts val="0"/>
              </a:spcAft>
              <a:buClr>
                <a:schemeClr val="dk1"/>
              </a:buClr>
              <a:buSzPct val="100000"/>
              <a:buChar char="-"/>
            </a:pPr>
            <a:r>
              <a:rPr lang="en" sz="2800">
                <a:solidFill>
                  <a:schemeClr val="dk1"/>
                </a:solidFill>
              </a:rPr>
              <a:t>Maximize awareness, skills</a:t>
            </a:r>
            <a:endParaRPr sz="2800">
              <a:solidFill>
                <a:schemeClr val="dk1"/>
              </a:solidFill>
            </a:endParaRPr>
          </a:p>
          <a:p>
            <a:pPr indent="-299719" lvl="1" marL="914400" rtl="0" algn="l">
              <a:spcBef>
                <a:spcPts val="0"/>
              </a:spcBef>
              <a:spcAft>
                <a:spcPts val="0"/>
              </a:spcAft>
              <a:buClr>
                <a:schemeClr val="dk1"/>
              </a:buClr>
              <a:buSzPct val="100000"/>
              <a:buChar char="-"/>
            </a:pPr>
            <a:r>
              <a:rPr lang="en" sz="2800">
                <a:solidFill>
                  <a:schemeClr val="dk1"/>
                </a:solidFill>
              </a:rPr>
              <a:t>Minimize the rabbit hole</a:t>
            </a:r>
            <a:endParaRPr sz="2800">
              <a:solidFill>
                <a:schemeClr val="dk1"/>
              </a:solidFill>
            </a:endParaRPr>
          </a:p>
          <a:p>
            <a:pPr indent="0" lvl="0" marL="0" rtl="0" algn="l">
              <a:spcBef>
                <a:spcPts val="1200"/>
              </a:spcBef>
              <a:spcAft>
                <a:spcPts val="1200"/>
              </a:spcAft>
              <a:buNone/>
            </a:pPr>
            <a:r>
              <a:rPr lang="en" sz="2381">
                <a:solidFill>
                  <a:srgbClr val="616161"/>
                </a:solidFill>
                <a:highlight>
                  <a:srgbClr val="F5F5F5"/>
                </a:highlight>
              </a:rPr>
              <a:t>Docker Containers need connectivity to the outside world in three ways (setting aside terminal access): ports, volumes and networks. Port connectivity is for Container to Host port of course. Volume connectivity is for filesystem overlap, i.e. data / results from the Container are visible in the Host. Networks exist within the Docker VM and facilitate communication between Containers.</a:t>
            </a:r>
            <a:endParaRPr sz="4181">
              <a:solidFill>
                <a:schemeClr val="dk1"/>
              </a:solidFill>
            </a:endParaRPr>
          </a:p>
        </p:txBody>
      </p:sp>
      <p:pic>
        <p:nvPicPr>
          <p:cNvPr id="158" name="Google Shape;158;p27"/>
          <p:cNvPicPr preferRelativeResize="0"/>
          <p:nvPr/>
        </p:nvPicPr>
        <p:blipFill>
          <a:blip r:embed="rId3">
            <a:alphaModFix/>
          </a:blip>
          <a:stretch>
            <a:fillRect/>
          </a:stretch>
        </p:blipFill>
        <p:spPr>
          <a:xfrm>
            <a:off x="6532600" y="2432725"/>
            <a:ext cx="2453001" cy="263009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Philosophical Concerns</a:t>
            </a:r>
            <a:endParaRPr/>
          </a:p>
        </p:txBody>
      </p:sp>
      <p:sp>
        <p:nvSpPr>
          <p:cNvPr id="164" name="Google Shape;164;p28"/>
          <p:cNvSpPr txBox="1"/>
          <p:nvPr>
            <p:ph idx="1" type="body"/>
          </p:nvPr>
        </p:nvSpPr>
        <p:spPr>
          <a:xfrm>
            <a:off x="194700" y="1162500"/>
            <a:ext cx="8754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Containerization – we will find – follows from some design principles</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Char char="-"/>
            </a:pPr>
            <a:r>
              <a:rPr lang="en"/>
              <a:t>isolation								no collisions / overlap with host</a:t>
            </a:r>
            <a:endParaRPr/>
          </a:p>
          <a:p>
            <a:pPr indent="-342900" lvl="0" marL="457200" rtl="0" algn="l">
              <a:spcBef>
                <a:spcPts val="0"/>
              </a:spcBef>
              <a:spcAft>
                <a:spcPts val="0"/>
              </a:spcAft>
              <a:buSzPts val="1800"/>
              <a:buChar char="-"/>
            </a:pPr>
            <a:r>
              <a:rPr lang="en"/>
              <a:t>abstraction							Images, Containers are “somewhere”</a:t>
            </a:r>
            <a:endParaRPr/>
          </a:p>
          <a:p>
            <a:pPr indent="-342900" lvl="0" marL="457200" rtl="0" algn="l">
              <a:spcBef>
                <a:spcPts val="0"/>
              </a:spcBef>
              <a:spcAft>
                <a:spcPts val="0"/>
              </a:spcAft>
              <a:buSzPts val="1800"/>
              <a:buChar char="-"/>
            </a:pPr>
            <a:r>
              <a:rPr lang="en"/>
              <a:t>multiplication							From one Image: Many Containers</a:t>
            </a:r>
            <a:endParaRPr/>
          </a:p>
          <a:p>
            <a:pPr indent="-342900" lvl="0" marL="457200" rtl="0" algn="l">
              <a:spcBef>
                <a:spcPts val="0"/>
              </a:spcBef>
              <a:spcAft>
                <a:spcPts val="0"/>
              </a:spcAft>
              <a:buSzPts val="1800"/>
              <a:buChar char="-"/>
            </a:pPr>
            <a:r>
              <a:rPr lang="en" strike="sngStrike"/>
              <a:t>derision</a:t>
            </a:r>
            <a:r>
              <a:rPr lang="en"/>
              <a:t> resilience					Container modified → auto-saves</a:t>
            </a:r>
            <a:endParaRPr/>
          </a:p>
          <a:p>
            <a:pPr indent="0" lvl="0" marL="0" rtl="0" algn="l">
              <a:spcBef>
                <a:spcPts val="1200"/>
              </a:spcBef>
              <a:spcAft>
                <a:spcPts val="0"/>
              </a:spcAft>
              <a:buNone/>
            </a:pPr>
            <a:r>
              <a:rPr lang="en"/>
              <a:t>											(and more resilience to follow)</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Separation of Concerns: Map pieces of a complex workflow to Containers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9"/>
          <p:cNvSpPr txBox="1"/>
          <p:nvPr>
            <p:ph type="title"/>
          </p:nvPr>
        </p:nvSpPr>
        <p:spPr>
          <a:xfrm>
            <a:off x="115075" y="147925"/>
            <a:ext cx="213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Diagram</a:t>
            </a:r>
            <a:endParaRPr/>
          </a:p>
        </p:txBody>
      </p:sp>
      <p:sp>
        <p:nvSpPr>
          <p:cNvPr id="170" name="Google Shape;170;p29"/>
          <p:cNvSpPr/>
          <p:nvPr/>
        </p:nvSpPr>
        <p:spPr>
          <a:xfrm>
            <a:off x="3218550" y="105600"/>
            <a:ext cx="5780100" cy="4822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1" name="Google Shape;171;p29"/>
          <p:cNvSpPr/>
          <p:nvPr/>
        </p:nvSpPr>
        <p:spPr>
          <a:xfrm>
            <a:off x="4678725" y="1477550"/>
            <a:ext cx="1384500" cy="496800"/>
          </a:xfrm>
          <a:prstGeom prst="rect">
            <a:avLst/>
          </a:prstGeom>
          <a:solidFill>
            <a:srgbClr val="E6B8A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Container</a:t>
            </a:r>
            <a:endParaRPr/>
          </a:p>
        </p:txBody>
      </p:sp>
      <p:sp>
        <p:nvSpPr>
          <p:cNvPr id="172" name="Google Shape;172;p29"/>
          <p:cNvSpPr/>
          <p:nvPr/>
        </p:nvSpPr>
        <p:spPr>
          <a:xfrm>
            <a:off x="3745901" y="570975"/>
            <a:ext cx="2390700" cy="496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Docker daemon</a:t>
            </a:r>
            <a:endParaRPr/>
          </a:p>
        </p:txBody>
      </p:sp>
      <p:sp>
        <p:nvSpPr>
          <p:cNvPr id="173" name="Google Shape;173;p29"/>
          <p:cNvSpPr/>
          <p:nvPr/>
        </p:nvSpPr>
        <p:spPr>
          <a:xfrm>
            <a:off x="3582613" y="185875"/>
            <a:ext cx="2390700" cy="496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Docker Engine API</a:t>
            </a:r>
            <a:endParaRPr/>
          </a:p>
        </p:txBody>
      </p:sp>
      <p:sp>
        <p:nvSpPr>
          <p:cNvPr id="174" name="Google Shape;174;p29"/>
          <p:cNvSpPr/>
          <p:nvPr/>
        </p:nvSpPr>
        <p:spPr>
          <a:xfrm>
            <a:off x="2451900" y="2370050"/>
            <a:ext cx="1720200" cy="496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docker CLI</a:t>
            </a:r>
            <a:endParaRPr/>
          </a:p>
        </p:txBody>
      </p:sp>
      <p:sp>
        <p:nvSpPr>
          <p:cNvPr id="175" name="Google Shape;175;p29"/>
          <p:cNvSpPr/>
          <p:nvPr/>
        </p:nvSpPr>
        <p:spPr>
          <a:xfrm>
            <a:off x="311700" y="1736425"/>
            <a:ext cx="2390700" cy="496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bash shell (Linux)</a:t>
            </a:r>
            <a:endParaRPr/>
          </a:p>
        </p:txBody>
      </p:sp>
      <p:sp>
        <p:nvSpPr>
          <p:cNvPr id="176" name="Google Shape;176;p29"/>
          <p:cNvSpPr/>
          <p:nvPr/>
        </p:nvSpPr>
        <p:spPr>
          <a:xfrm>
            <a:off x="311700" y="859600"/>
            <a:ext cx="2390700" cy="496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User</a:t>
            </a:r>
            <a:endParaRPr/>
          </a:p>
        </p:txBody>
      </p:sp>
      <p:sp>
        <p:nvSpPr>
          <p:cNvPr id="177" name="Google Shape;177;p29"/>
          <p:cNvSpPr/>
          <p:nvPr/>
        </p:nvSpPr>
        <p:spPr>
          <a:xfrm>
            <a:off x="2444550" y="3267625"/>
            <a:ext cx="774000" cy="496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Port</a:t>
            </a:r>
            <a:endParaRPr/>
          </a:p>
        </p:txBody>
      </p:sp>
      <p:sp>
        <p:nvSpPr>
          <p:cNvPr id="178" name="Google Shape;178;p29"/>
          <p:cNvSpPr/>
          <p:nvPr/>
        </p:nvSpPr>
        <p:spPr>
          <a:xfrm>
            <a:off x="3218550" y="4116225"/>
            <a:ext cx="804900" cy="496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Volume</a:t>
            </a:r>
            <a:endParaRPr/>
          </a:p>
        </p:txBody>
      </p:sp>
      <p:cxnSp>
        <p:nvCxnSpPr>
          <p:cNvPr id="179" name="Google Shape;179;p29"/>
          <p:cNvCxnSpPr>
            <a:stCxn id="174" idx="0"/>
            <a:endCxn id="173" idx="1"/>
          </p:cNvCxnSpPr>
          <p:nvPr/>
        </p:nvCxnSpPr>
        <p:spPr>
          <a:xfrm rot="-5400000">
            <a:off x="2479350" y="1266800"/>
            <a:ext cx="1935900" cy="270600"/>
          </a:xfrm>
          <a:prstGeom prst="bentConnector2">
            <a:avLst/>
          </a:prstGeom>
          <a:noFill/>
          <a:ln cap="flat" cmpd="sng" w="19050">
            <a:solidFill>
              <a:srgbClr val="00FF00"/>
            </a:solidFill>
            <a:prstDash val="solid"/>
            <a:round/>
            <a:headEnd len="med" w="med" type="none"/>
            <a:tailEnd len="med" w="med" type="none"/>
          </a:ln>
        </p:spPr>
      </p:cxnSp>
      <p:cxnSp>
        <p:nvCxnSpPr>
          <p:cNvPr id="180" name="Google Shape;180;p29"/>
          <p:cNvCxnSpPr>
            <a:stCxn id="175" idx="2"/>
            <a:endCxn id="174" idx="1"/>
          </p:cNvCxnSpPr>
          <p:nvPr/>
        </p:nvCxnSpPr>
        <p:spPr>
          <a:xfrm flipH="1" rot="-5400000">
            <a:off x="1786950" y="1953325"/>
            <a:ext cx="385200" cy="945000"/>
          </a:xfrm>
          <a:prstGeom prst="bentConnector2">
            <a:avLst/>
          </a:prstGeom>
          <a:noFill/>
          <a:ln cap="flat" cmpd="sng" w="19050">
            <a:solidFill>
              <a:srgbClr val="00FF00"/>
            </a:solidFill>
            <a:prstDash val="solid"/>
            <a:round/>
            <a:headEnd len="med" w="med" type="none"/>
            <a:tailEnd len="med" w="med" type="none"/>
          </a:ln>
        </p:spPr>
      </p:cxnSp>
      <p:cxnSp>
        <p:nvCxnSpPr>
          <p:cNvPr id="181" name="Google Shape;181;p29"/>
          <p:cNvCxnSpPr>
            <a:stCxn id="176" idx="2"/>
            <a:endCxn id="175" idx="0"/>
          </p:cNvCxnSpPr>
          <p:nvPr/>
        </p:nvCxnSpPr>
        <p:spPr>
          <a:xfrm flipH="1" rot="-5400000">
            <a:off x="1317300" y="1546150"/>
            <a:ext cx="380100" cy="600"/>
          </a:xfrm>
          <a:prstGeom prst="bentConnector3">
            <a:avLst>
              <a:gd fmla="val 49990" name="adj1"/>
            </a:avLst>
          </a:prstGeom>
          <a:noFill/>
          <a:ln cap="flat" cmpd="sng" w="19050">
            <a:solidFill>
              <a:srgbClr val="00FF00"/>
            </a:solidFill>
            <a:prstDash val="solid"/>
            <a:round/>
            <a:headEnd len="med" w="med" type="none"/>
            <a:tailEnd len="med" w="med" type="none"/>
          </a:ln>
        </p:spPr>
      </p:cxnSp>
      <p:sp>
        <p:nvSpPr>
          <p:cNvPr id="182" name="Google Shape;182;p29"/>
          <p:cNvSpPr/>
          <p:nvPr/>
        </p:nvSpPr>
        <p:spPr>
          <a:xfrm>
            <a:off x="6825225" y="523550"/>
            <a:ext cx="1430700" cy="496800"/>
          </a:xfrm>
          <a:prstGeom prst="rect">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Image</a:t>
            </a:r>
            <a:endParaRPr/>
          </a:p>
        </p:txBody>
      </p:sp>
      <p:sp>
        <p:nvSpPr>
          <p:cNvPr id="183" name="Google Shape;183;p29"/>
          <p:cNvSpPr/>
          <p:nvPr/>
        </p:nvSpPr>
        <p:spPr>
          <a:xfrm>
            <a:off x="4172088" y="2696750"/>
            <a:ext cx="1314300" cy="4968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Network</a:t>
            </a:r>
            <a:endParaRPr/>
          </a:p>
        </p:txBody>
      </p:sp>
      <p:sp>
        <p:nvSpPr>
          <p:cNvPr id="184" name="Google Shape;184;p29"/>
          <p:cNvSpPr txBox="1"/>
          <p:nvPr/>
        </p:nvSpPr>
        <p:spPr>
          <a:xfrm>
            <a:off x="6457825" y="4426350"/>
            <a:ext cx="24603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2"/>
                </a:solidFill>
              </a:rPr>
              <a:t>Docker Desktop VM</a:t>
            </a:r>
            <a:endParaRPr sz="1800">
              <a:solidFill>
                <a:schemeClr val="dk2"/>
              </a:solidFill>
            </a:endParaRPr>
          </a:p>
        </p:txBody>
      </p:sp>
      <p:sp>
        <p:nvSpPr>
          <p:cNvPr id="185" name="Google Shape;185;p29"/>
          <p:cNvSpPr/>
          <p:nvPr/>
        </p:nvSpPr>
        <p:spPr>
          <a:xfrm>
            <a:off x="3218550" y="3267625"/>
            <a:ext cx="774000" cy="496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Port</a:t>
            </a:r>
            <a:endParaRPr/>
          </a:p>
        </p:txBody>
      </p:sp>
      <p:sp>
        <p:nvSpPr>
          <p:cNvPr id="186" name="Google Shape;186;p29"/>
          <p:cNvSpPr/>
          <p:nvPr/>
        </p:nvSpPr>
        <p:spPr>
          <a:xfrm>
            <a:off x="2413650" y="4116225"/>
            <a:ext cx="804900" cy="496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Volume</a:t>
            </a:r>
            <a:endParaRPr/>
          </a:p>
        </p:txBody>
      </p:sp>
      <p:sp>
        <p:nvSpPr>
          <p:cNvPr id="187" name="Google Shape;187;p29"/>
          <p:cNvSpPr txBox="1"/>
          <p:nvPr/>
        </p:nvSpPr>
        <p:spPr>
          <a:xfrm>
            <a:off x="2878300" y="3113045"/>
            <a:ext cx="704400" cy="292500"/>
          </a:xfrm>
          <a:prstGeom prst="rect">
            <a:avLst/>
          </a:prstGeom>
          <a:solidFill>
            <a:srgbClr val="FFE599"/>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solidFill>
                  <a:schemeClr val="dk2"/>
                </a:solidFill>
              </a:rPr>
              <a:t>Forwarding</a:t>
            </a:r>
            <a:endParaRPr b="1" sz="700">
              <a:solidFill>
                <a:schemeClr val="dk2"/>
              </a:solidFill>
            </a:endParaRPr>
          </a:p>
        </p:txBody>
      </p:sp>
      <p:sp>
        <p:nvSpPr>
          <p:cNvPr id="188" name="Google Shape;188;p29"/>
          <p:cNvSpPr txBox="1"/>
          <p:nvPr/>
        </p:nvSpPr>
        <p:spPr>
          <a:xfrm>
            <a:off x="2808750" y="4510943"/>
            <a:ext cx="774000" cy="292500"/>
          </a:xfrm>
          <a:prstGeom prst="rect">
            <a:avLst/>
          </a:prstGeom>
          <a:solidFill>
            <a:srgbClr val="F9CB9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00">
                <a:solidFill>
                  <a:schemeClr val="dk2"/>
                </a:solidFill>
              </a:rPr>
              <a:t>Same/Shared</a:t>
            </a:r>
            <a:endParaRPr b="1" sz="700">
              <a:solidFill>
                <a:schemeClr val="dk2"/>
              </a:solidFill>
            </a:endParaRPr>
          </a:p>
        </p:txBody>
      </p:sp>
      <p:sp>
        <p:nvSpPr>
          <p:cNvPr id="189" name="Google Shape;189;p29"/>
          <p:cNvSpPr/>
          <p:nvPr/>
        </p:nvSpPr>
        <p:spPr>
          <a:xfrm>
            <a:off x="6977625" y="675950"/>
            <a:ext cx="1430700" cy="496800"/>
          </a:xfrm>
          <a:prstGeom prst="rect">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Image</a:t>
            </a:r>
            <a:endParaRPr/>
          </a:p>
        </p:txBody>
      </p:sp>
      <p:sp>
        <p:nvSpPr>
          <p:cNvPr id="190" name="Google Shape;190;p29"/>
          <p:cNvSpPr/>
          <p:nvPr/>
        </p:nvSpPr>
        <p:spPr>
          <a:xfrm>
            <a:off x="7130025" y="828350"/>
            <a:ext cx="1430700" cy="496800"/>
          </a:xfrm>
          <a:prstGeom prst="rect">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Image</a:t>
            </a:r>
            <a:endParaRPr/>
          </a:p>
        </p:txBody>
      </p:sp>
      <p:sp>
        <p:nvSpPr>
          <p:cNvPr id="191" name="Google Shape;191;p29"/>
          <p:cNvSpPr/>
          <p:nvPr/>
        </p:nvSpPr>
        <p:spPr>
          <a:xfrm>
            <a:off x="7282425" y="980750"/>
            <a:ext cx="1430700" cy="496800"/>
          </a:xfrm>
          <a:prstGeom prst="rect">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Image</a:t>
            </a:r>
            <a:endParaRPr/>
          </a:p>
        </p:txBody>
      </p:sp>
      <p:sp>
        <p:nvSpPr>
          <p:cNvPr id="192" name="Google Shape;192;p29"/>
          <p:cNvSpPr/>
          <p:nvPr/>
        </p:nvSpPr>
        <p:spPr>
          <a:xfrm>
            <a:off x="4831125" y="1629950"/>
            <a:ext cx="1384500" cy="496800"/>
          </a:xfrm>
          <a:prstGeom prst="rect">
            <a:avLst/>
          </a:prstGeom>
          <a:solidFill>
            <a:srgbClr val="E6B8A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Container</a:t>
            </a:r>
            <a:endParaRPr/>
          </a:p>
        </p:txBody>
      </p:sp>
      <p:sp>
        <p:nvSpPr>
          <p:cNvPr id="193" name="Google Shape;193;p29"/>
          <p:cNvSpPr/>
          <p:nvPr/>
        </p:nvSpPr>
        <p:spPr>
          <a:xfrm>
            <a:off x="4983525" y="1782350"/>
            <a:ext cx="1384500" cy="496800"/>
          </a:xfrm>
          <a:prstGeom prst="rect">
            <a:avLst/>
          </a:prstGeom>
          <a:solidFill>
            <a:srgbClr val="E6B8A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Container</a:t>
            </a:r>
            <a:endParaRPr/>
          </a:p>
        </p:txBody>
      </p:sp>
      <p:sp>
        <p:nvSpPr>
          <p:cNvPr id="194" name="Google Shape;194;p29"/>
          <p:cNvSpPr/>
          <p:nvPr/>
        </p:nvSpPr>
        <p:spPr>
          <a:xfrm>
            <a:off x="5135925" y="1934750"/>
            <a:ext cx="1384500" cy="496800"/>
          </a:xfrm>
          <a:prstGeom prst="rect">
            <a:avLst/>
          </a:prstGeom>
          <a:solidFill>
            <a:srgbClr val="E6B8A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Container</a:t>
            </a:r>
            <a:endParaRPr/>
          </a:p>
        </p:txBody>
      </p:sp>
      <p:sp>
        <p:nvSpPr>
          <p:cNvPr id="195" name="Google Shape;195;p29"/>
          <p:cNvSpPr/>
          <p:nvPr/>
        </p:nvSpPr>
        <p:spPr>
          <a:xfrm>
            <a:off x="5288325" y="2087150"/>
            <a:ext cx="1384500" cy="496800"/>
          </a:xfrm>
          <a:prstGeom prst="rect">
            <a:avLst/>
          </a:prstGeom>
          <a:solidFill>
            <a:srgbClr val="E6B8A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Container</a:t>
            </a:r>
            <a:endParaRPr/>
          </a:p>
        </p:txBody>
      </p:sp>
      <p:sp>
        <p:nvSpPr>
          <p:cNvPr id="196" name="Google Shape;196;p29"/>
          <p:cNvSpPr/>
          <p:nvPr/>
        </p:nvSpPr>
        <p:spPr>
          <a:xfrm>
            <a:off x="5440725" y="2239550"/>
            <a:ext cx="1384500" cy="496800"/>
          </a:xfrm>
          <a:prstGeom prst="rect">
            <a:avLst/>
          </a:prstGeom>
          <a:solidFill>
            <a:srgbClr val="E6B8A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Container</a:t>
            </a:r>
            <a:endParaRPr/>
          </a:p>
        </p:txBody>
      </p:sp>
      <p:cxnSp>
        <p:nvCxnSpPr>
          <p:cNvPr id="197" name="Google Shape;197;p29"/>
          <p:cNvCxnSpPr>
            <a:stCxn id="171" idx="1"/>
            <a:endCxn id="192" idx="1"/>
          </p:cNvCxnSpPr>
          <p:nvPr/>
        </p:nvCxnSpPr>
        <p:spPr>
          <a:xfrm>
            <a:off x="4678725" y="1725950"/>
            <a:ext cx="152400" cy="152400"/>
          </a:xfrm>
          <a:prstGeom prst="bentConnector3">
            <a:avLst>
              <a:gd fmla="val -156250" name="adj1"/>
            </a:avLst>
          </a:prstGeom>
          <a:noFill/>
          <a:ln cap="flat" cmpd="sng" w="9525">
            <a:solidFill>
              <a:srgbClr val="00FF00"/>
            </a:solidFill>
            <a:prstDash val="solid"/>
            <a:round/>
            <a:headEnd len="med" w="med" type="none"/>
            <a:tailEnd len="med" w="med" type="none"/>
          </a:ln>
        </p:spPr>
      </p:cxnSp>
      <p:cxnSp>
        <p:nvCxnSpPr>
          <p:cNvPr id="198" name="Google Shape;198;p29"/>
          <p:cNvCxnSpPr>
            <a:stCxn id="193" idx="1"/>
            <a:endCxn id="192" idx="1"/>
          </p:cNvCxnSpPr>
          <p:nvPr/>
        </p:nvCxnSpPr>
        <p:spPr>
          <a:xfrm rot="10800000">
            <a:off x="4831125" y="1878350"/>
            <a:ext cx="152400" cy="152400"/>
          </a:xfrm>
          <a:prstGeom prst="bentConnector3">
            <a:avLst>
              <a:gd fmla="val 256250" name="adj1"/>
            </a:avLst>
          </a:prstGeom>
          <a:noFill/>
          <a:ln cap="flat" cmpd="sng" w="9525">
            <a:solidFill>
              <a:srgbClr val="00FF00"/>
            </a:solidFill>
            <a:prstDash val="solid"/>
            <a:round/>
            <a:headEnd len="med" w="med" type="none"/>
            <a:tailEnd len="med" w="med" type="none"/>
          </a:ln>
        </p:spPr>
      </p:cxnSp>
      <p:cxnSp>
        <p:nvCxnSpPr>
          <p:cNvPr id="199" name="Google Shape;199;p29"/>
          <p:cNvCxnSpPr>
            <a:stCxn id="193" idx="1"/>
            <a:endCxn id="194" idx="1"/>
          </p:cNvCxnSpPr>
          <p:nvPr/>
        </p:nvCxnSpPr>
        <p:spPr>
          <a:xfrm>
            <a:off x="4983525" y="2030750"/>
            <a:ext cx="152400" cy="152400"/>
          </a:xfrm>
          <a:prstGeom prst="bentConnector3">
            <a:avLst>
              <a:gd fmla="val -156250" name="adj1"/>
            </a:avLst>
          </a:prstGeom>
          <a:noFill/>
          <a:ln cap="flat" cmpd="sng" w="9525">
            <a:solidFill>
              <a:srgbClr val="00FF00"/>
            </a:solidFill>
            <a:prstDash val="solid"/>
            <a:round/>
            <a:headEnd len="med" w="med" type="none"/>
            <a:tailEnd len="med" w="med" type="none"/>
          </a:ln>
        </p:spPr>
      </p:cxnSp>
      <p:cxnSp>
        <p:nvCxnSpPr>
          <p:cNvPr id="200" name="Google Shape;200;p29"/>
          <p:cNvCxnSpPr>
            <a:stCxn id="194" idx="1"/>
            <a:endCxn id="195" idx="1"/>
          </p:cNvCxnSpPr>
          <p:nvPr/>
        </p:nvCxnSpPr>
        <p:spPr>
          <a:xfrm>
            <a:off x="5135925" y="2183150"/>
            <a:ext cx="152400" cy="152400"/>
          </a:xfrm>
          <a:prstGeom prst="bentConnector3">
            <a:avLst>
              <a:gd fmla="val -156250" name="adj1"/>
            </a:avLst>
          </a:prstGeom>
          <a:noFill/>
          <a:ln cap="flat" cmpd="sng" w="9525">
            <a:solidFill>
              <a:srgbClr val="00FF00"/>
            </a:solidFill>
            <a:prstDash val="solid"/>
            <a:round/>
            <a:headEnd len="med" w="med" type="none"/>
            <a:tailEnd len="med" w="med" type="none"/>
          </a:ln>
        </p:spPr>
      </p:cxnSp>
      <p:cxnSp>
        <p:nvCxnSpPr>
          <p:cNvPr id="201" name="Google Shape;201;p29"/>
          <p:cNvCxnSpPr>
            <a:stCxn id="195" idx="1"/>
            <a:endCxn id="196" idx="1"/>
          </p:cNvCxnSpPr>
          <p:nvPr/>
        </p:nvCxnSpPr>
        <p:spPr>
          <a:xfrm>
            <a:off x="5288325" y="2335550"/>
            <a:ext cx="152400" cy="152400"/>
          </a:xfrm>
          <a:prstGeom prst="bentConnector3">
            <a:avLst>
              <a:gd fmla="val -156250" name="adj1"/>
            </a:avLst>
          </a:prstGeom>
          <a:noFill/>
          <a:ln cap="flat" cmpd="sng" w="9525">
            <a:solidFill>
              <a:srgbClr val="00FF00"/>
            </a:solidFill>
            <a:prstDash val="solid"/>
            <a:round/>
            <a:headEnd len="med" w="med" type="none"/>
            <a:tailEnd len="med" w="med" type="none"/>
          </a:ln>
        </p:spPr>
      </p:cxnSp>
      <p:cxnSp>
        <p:nvCxnSpPr>
          <p:cNvPr id="202" name="Google Shape;202;p29"/>
          <p:cNvCxnSpPr>
            <a:stCxn id="185" idx="3"/>
            <a:endCxn id="193" idx="1"/>
          </p:cNvCxnSpPr>
          <p:nvPr/>
        </p:nvCxnSpPr>
        <p:spPr>
          <a:xfrm flipH="1" rot="10800000">
            <a:off x="3992550" y="2030725"/>
            <a:ext cx="990900" cy="1485300"/>
          </a:xfrm>
          <a:prstGeom prst="bentConnector3">
            <a:avLst>
              <a:gd fmla="val 50004" name="adj1"/>
            </a:avLst>
          </a:prstGeom>
          <a:noFill/>
          <a:ln cap="flat" cmpd="sng" w="9525">
            <a:solidFill>
              <a:srgbClr val="00FF00"/>
            </a:solidFill>
            <a:prstDash val="solid"/>
            <a:round/>
            <a:headEnd len="med" w="med" type="none"/>
            <a:tailEnd len="med" w="med" type="none"/>
          </a:ln>
        </p:spPr>
      </p:cxnSp>
      <p:cxnSp>
        <p:nvCxnSpPr>
          <p:cNvPr id="203" name="Google Shape;203;p29"/>
          <p:cNvCxnSpPr>
            <a:stCxn id="196" idx="2"/>
            <a:endCxn id="178" idx="3"/>
          </p:cNvCxnSpPr>
          <p:nvPr/>
        </p:nvCxnSpPr>
        <p:spPr>
          <a:xfrm rot="5400000">
            <a:off x="4263975" y="2495750"/>
            <a:ext cx="1628400" cy="2109600"/>
          </a:xfrm>
          <a:prstGeom prst="bentConnector2">
            <a:avLst/>
          </a:prstGeom>
          <a:noFill/>
          <a:ln cap="flat" cmpd="sng" w="9525">
            <a:solidFill>
              <a:srgbClr val="00FF00"/>
            </a:solidFill>
            <a:prstDash val="solid"/>
            <a:round/>
            <a:headEnd len="med" w="med" type="none"/>
            <a:tailEnd len="med" w="med" type="none"/>
          </a:ln>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0"/>
          <p:cNvSpPr txBox="1"/>
          <p:nvPr>
            <p:ph type="title"/>
          </p:nvPr>
        </p:nvSpPr>
        <p:spPr>
          <a:xfrm>
            <a:off x="311700" y="445025"/>
            <a:ext cx="8520600" cy="8853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Docker Images and Containers</a:t>
            </a:r>
            <a:endParaRPr/>
          </a:p>
          <a:p>
            <a:pPr indent="0" lvl="0" marL="0" rtl="0" algn="ctr">
              <a:spcBef>
                <a:spcPts val="0"/>
              </a:spcBef>
              <a:spcAft>
                <a:spcPts val="0"/>
              </a:spcAft>
              <a:buNone/>
            </a:pPr>
            <a:r>
              <a:rPr lang="en" sz="2355"/>
              <a:t>‘</a:t>
            </a:r>
            <a:r>
              <a:rPr lang="en" sz="2355"/>
              <a:t>Don’t Worry About It: </a:t>
            </a:r>
            <a:r>
              <a:rPr i="1" lang="en" sz="2355"/>
              <a:t>Abstraction’</a:t>
            </a:r>
            <a:endParaRPr i="1" sz="2355"/>
          </a:p>
        </p:txBody>
      </p:sp>
      <p:sp>
        <p:nvSpPr>
          <p:cNvPr id="209" name="Google Shape;209;p30"/>
          <p:cNvSpPr txBox="1"/>
          <p:nvPr>
            <p:ph idx="1" type="body"/>
          </p:nvPr>
        </p:nvSpPr>
        <p:spPr>
          <a:xfrm>
            <a:off x="311700" y="157332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In the bash shell: We run the command </a:t>
            </a:r>
            <a:r>
              <a:rPr b="1" lang="en">
                <a:latin typeface="Courier New"/>
                <a:ea typeface="Courier New"/>
                <a:cs typeface="Courier New"/>
                <a:sym typeface="Courier New"/>
              </a:rPr>
              <a:t>docker </a:t>
            </a:r>
            <a:r>
              <a:rPr lang="en"/>
              <a:t>with arguments</a:t>
            </a:r>
            <a:endParaRPr/>
          </a:p>
          <a:p>
            <a:pPr indent="-342900" lvl="0" marL="457200" rtl="0" algn="l">
              <a:spcBef>
                <a:spcPts val="0"/>
              </a:spcBef>
              <a:spcAft>
                <a:spcPts val="0"/>
              </a:spcAft>
              <a:buSzPts val="1800"/>
              <a:buChar char="-"/>
            </a:pPr>
            <a:r>
              <a:rPr b="1" lang="en">
                <a:latin typeface="Courier New"/>
                <a:ea typeface="Courier New"/>
                <a:cs typeface="Courier New"/>
                <a:sym typeface="Courier New"/>
              </a:rPr>
              <a:t>docker run hello-world</a:t>
            </a:r>
            <a:r>
              <a:rPr lang="en"/>
              <a:t> checks locally, then scoots to docker hub</a:t>
            </a:r>
            <a:endParaRPr/>
          </a:p>
          <a:p>
            <a:pPr indent="-342900" lvl="0" marL="457200" rtl="0" algn="l">
              <a:spcBef>
                <a:spcPts val="0"/>
              </a:spcBef>
              <a:spcAft>
                <a:spcPts val="0"/>
              </a:spcAft>
              <a:buSzPts val="1800"/>
              <a:buChar char="-"/>
            </a:pPr>
            <a:r>
              <a:rPr lang="en"/>
              <a:t>There it gets an </a:t>
            </a:r>
            <a:r>
              <a:rPr b="1" lang="en">
                <a:latin typeface="Courier New"/>
                <a:ea typeface="Courier New"/>
                <a:cs typeface="Courier New"/>
                <a:sym typeface="Courier New"/>
              </a:rPr>
              <a:t>image </a:t>
            </a:r>
            <a:r>
              <a:rPr lang="en"/>
              <a:t>and converts that into a </a:t>
            </a:r>
            <a:r>
              <a:rPr b="1" lang="en">
                <a:latin typeface="Courier New"/>
                <a:ea typeface="Courier New"/>
                <a:cs typeface="Courier New"/>
                <a:sym typeface="Courier New"/>
              </a:rPr>
              <a:t>container</a:t>
            </a:r>
            <a:endParaRPr b="1">
              <a:latin typeface="Courier New"/>
              <a:ea typeface="Courier New"/>
              <a:cs typeface="Courier New"/>
              <a:sym typeface="Courier New"/>
            </a:endParaRPr>
          </a:p>
          <a:p>
            <a:pPr indent="-342900" lvl="0" marL="457200" rtl="0" algn="l">
              <a:spcBef>
                <a:spcPts val="0"/>
              </a:spcBef>
              <a:spcAft>
                <a:spcPts val="0"/>
              </a:spcAft>
              <a:buSzPts val="1800"/>
              <a:buChar char="-"/>
            </a:pPr>
            <a:r>
              <a:rPr lang="en"/>
              <a:t>The container runs, does what it does, halts</a:t>
            </a:r>
            <a:endParaRPr/>
          </a:p>
          <a:p>
            <a:pPr indent="0" lvl="0" marL="0" rtl="0" algn="l">
              <a:spcBef>
                <a:spcPts val="1200"/>
              </a:spcBef>
              <a:spcAft>
                <a:spcPts val="0"/>
              </a:spcAft>
              <a:buNone/>
            </a:pPr>
            <a:r>
              <a:t/>
            </a:r>
            <a:endParaRPr b="1">
              <a:latin typeface="Courier New"/>
              <a:ea typeface="Courier New"/>
              <a:cs typeface="Courier New"/>
              <a:sym typeface="Courier New"/>
            </a:endParaRPr>
          </a:p>
          <a:p>
            <a:pPr indent="0" lvl="0" marL="0" rtl="0" algn="l">
              <a:spcBef>
                <a:spcPts val="1200"/>
              </a:spcBef>
              <a:spcAft>
                <a:spcPts val="1200"/>
              </a:spcAft>
              <a:buNone/>
            </a:pPr>
            <a:r>
              <a:rPr lang="en"/>
              <a:t>We never worry about </a:t>
            </a:r>
            <a:r>
              <a:rPr i="1" lang="en"/>
              <a:t>where</a:t>
            </a:r>
            <a:r>
              <a:rPr lang="en"/>
              <a:t> the containers and images are on </a:t>
            </a:r>
            <a:r>
              <a:rPr b="1" lang="en">
                <a:latin typeface="Courier New"/>
                <a:ea typeface="Courier New"/>
                <a:cs typeface="Courier New"/>
                <a:sym typeface="Courier New"/>
              </a:rPr>
              <a:t>localhost </a:t>
            </a:r>
            <a:r>
              <a:rPr lang="en"/>
              <a:t>because we are managing them via the </a:t>
            </a:r>
            <a:r>
              <a:rPr b="1" lang="en">
                <a:latin typeface="Courier New"/>
                <a:ea typeface="Courier New"/>
                <a:cs typeface="Courier New"/>
                <a:sym typeface="Courier New"/>
              </a:rPr>
              <a:t>docker </a:t>
            </a:r>
            <a:r>
              <a:rPr lang="en"/>
              <a:t>command. This is a key design feature called </a:t>
            </a:r>
            <a:r>
              <a:rPr i="1" lang="en"/>
              <a:t>abstraction</a:t>
            </a:r>
            <a:r>
              <a:rPr lang="en"/>
              <a:t>. </a:t>
            </a:r>
            <a:endParaRPr/>
          </a:p>
        </p:txBody>
      </p:sp>
      <p:pic>
        <p:nvPicPr>
          <p:cNvPr id="210" name="Google Shape;210;p30"/>
          <p:cNvPicPr preferRelativeResize="0"/>
          <p:nvPr/>
        </p:nvPicPr>
        <p:blipFill>
          <a:blip r:embed="rId3">
            <a:alphaModFix/>
          </a:blip>
          <a:stretch>
            <a:fillRect/>
          </a:stretch>
        </p:blipFill>
        <p:spPr>
          <a:xfrm>
            <a:off x="2918325" y="4557525"/>
            <a:ext cx="3307350" cy="4322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No worrying: Linux ‘disk free’ (df) command</a:t>
            </a:r>
            <a:endParaRPr/>
          </a:p>
        </p:txBody>
      </p:sp>
      <p:sp>
        <p:nvSpPr>
          <p:cNvPr id="216" name="Google Shape;216;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ctr">
              <a:spcBef>
                <a:spcPts val="1200"/>
              </a:spcBef>
              <a:spcAft>
                <a:spcPts val="1200"/>
              </a:spcAft>
              <a:buNone/>
            </a:pPr>
            <a:r>
              <a:rPr lang="en"/>
              <a:t>…so now we turn to the file/image/container ecosystem… </a:t>
            </a:r>
            <a:endParaRPr/>
          </a:p>
        </p:txBody>
      </p:sp>
      <p:pic>
        <p:nvPicPr>
          <p:cNvPr id="217" name="Google Shape;217;p31"/>
          <p:cNvPicPr preferRelativeResize="0"/>
          <p:nvPr/>
        </p:nvPicPr>
        <p:blipFill>
          <a:blip r:embed="rId3">
            <a:alphaModFix/>
          </a:blip>
          <a:stretch>
            <a:fillRect/>
          </a:stretch>
        </p:blipFill>
        <p:spPr>
          <a:xfrm>
            <a:off x="234400" y="2207100"/>
            <a:ext cx="2790365" cy="364650"/>
          </a:xfrm>
          <a:prstGeom prst="rect">
            <a:avLst/>
          </a:prstGeom>
          <a:noFill/>
          <a:ln>
            <a:noFill/>
          </a:ln>
        </p:spPr>
      </p:pic>
      <p:sp>
        <p:nvSpPr>
          <p:cNvPr id="218" name="Google Shape;218;p31"/>
          <p:cNvSpPr/>
          <p:nvPr/>
        </p:nvSpPr>
        <p:spPr>
          <a:xfrm>
            <a:off x="3184875" y="2299275"/>
            <a:ext cx="650400" cy="180300"/>
          </a:xfrm>
          <a:prstGeom prst="rightArrow">
            <a:avLst>
              <a:gd fmla="val 50000" name="adj1"/>
              <a:gd fmla="val 50000" name="adj2"/>
            </a:avLst>
          </a:prstGeom>
          <a:solidFill>
            <a:srgbClr val="00FF00"/>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19" name="Google Shape;219;p31"/>
          <p:cNvPicPr preferRelativeResize="0"/>
          <p:nvPr/>
        </p:nvPicPr>
        <p:blipFill>
          <a:blip r:embed="rId4">
            <a:alphaModFix/>
          </a:blip>
          <a:stretch>
            <a:fillRect/>
          </a:stretch>
        </p:blipFill>
        <p:spPr>
          <a:xfrm>
            <a:off x="3995374" y="1912150"/>
            <a:ext cx="4923050" cy="954550"/>
          </a:xfrm>
          <a:prstGeom prst="rect">
            <a:avLst/>
          </a:prstGeom>
          <a:solidFill>
            <a:srgbClr val="00FF00"/>
          </a:solidFill>
          <a:ln cap="flat" cmpd="sng" w="19050">
            <a:solidFill>
              <a:schemeClr val="dk1"/>
            </a:solidFill>
            <a:prstDash val="solid"/>
            <a:round/>
            <a:headEnd len="sm" w="sm" type="none"/>
            <a:tailEnd len="sm" w="sm" type="none"/>
          </a:ln>
        </p:spPr>
      </p:pic>
      <p:sp>
        <p:nvSpPr>
          <p:cNvPr id="220" name="Google Shape;220;p31"/>
          <p:cNvSpPr txBox="1"/>
          <p:nvPr/>
        </p:nvSpPr>
        <p:spPr>
          <a:xfrm rot="425331">
            <a:off x="2289531" y="2892975"/>
            <a:ext cx="4186099" cy="369388"/>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FF0000"/>
                </a:solidFill>
              </a:rPr>
              <a:t>this df command is running inside the Docker VM</a:t>
            </a:r>
            <a:endParaRPr sz="1200">
              <a:solidFill>
                <a:srgbClr val="FF0000"/>
              </a:solidFill>
            </a:endParaRPr>
          </a:p>
        </p:txBody>
      </p:sp>
      <p:sp>
        <p:nvSpPr>
          <p:cNvPr id="221" name="Google Shape;221;p31"/>
          <p:cNvSpPr/>
          <p:nvPr/>
        </p:nvSpPr>
        <p:spPr>
          <a:xfrm>
            <a:off x="2307850" y="2102975"/>
            <a:ext cx="450300" cy="5331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2" name="Google Shape;222;p31"/>
          <p:cNvSpPr/>
          <p:nvPr/>
        </p:nvSpPr>
        <p:spPr>
          <a:xfrm>
            <a:off x="3999925" y="2108150"/>
            <a:ext cx="895200" cy="364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Ports, Volumes, Networks</a:t>
            </a:r>
            <a:endParaRPr/>
          </a:p>
        </p:txBody>
      </p:sp>
      <p:sp>
        <p:nvSpPr>
          <p:cNvPr id="228" name="Google Shape;228;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74650" lvl="0" marL="457200" rtl="0" algn="l">
              <a:spcBef>
                <a:spcPts val="0"/>
              </a:spcBef>
              <a:spcAft>
                <a:spcPts val="0"/>
              </a:spcAft>
              <a:buSzPts val="2300"/>
              <a:buChar char="-"/>
            </a:pPr>
            <a:r>
              <a:rPr lang="en" sz="2300"/>
              <a:t>Reminder: Containers must connect to the outside world</a:t>
            </a:r>
            <a:endParaRPr sz="2300"/>
          </a:p>
          <a:p>
            <a:pPr indent="-349250" lvl="1" marL="914400" rtl="0" algn="l">
              <a:spcBef>
                <a:spcPts val="0"/>
              </a:spcBef>
              <a:spcAft>
                <a:spcPts val="0"/>
              </a:spcAft>
              <a:buSzPts val="1900"/>
              <a:buChar char="-"/>
            </a:pPr>
            <a:r>
              <a:rPr lang="en" sz="1900"/>
              <a:t>Port mapping: localhost to Container ‘View a web app’</a:t>
            </a:r>
            <a:endParaRPr sz="1900"/>
          </a:p>
          <a:p>
            <a:pPr indent="-349250" lvl="2" marL="1371600" rtl="0" algn="l">
              <a:spcBef>
                <a:spcPts val="0"/>
              </a:spcBef>
              <a:spcAft>
                <a:spcPts val="0"/>
              </a:spcAft>
              <a:buSzPts val="1900"/>
              <a:buChar char="-"/>
            </a:pPr>
            <a:r>
              <a:rPr lang="en" sz="1900"/>
              <a:t>Resolve: Does this include the -ai attach?</a:t>
            </a:r>
            <a:endParaRPr sz="1900"/>
          </a:p>
          <a:p>
            <a:pPr indent="-349250" lvl="1" marL="914400" rtl="0" algn="l">
              <a:spcBef>
                <a:spcPts val="0"/>
              </a:spcBef>
              <a:spcAft>
                <a:spcPts val="0"/>
              </a:spcAft>
              <a:buSzPts val="1900"/>
              <a:buChar char="-"/>
            </a:pPr>
            <a:r>
              <a:rPr lang="en" sz="1900"/>
              <a:t>Volumes: Preserve stable information</a:t>
            </a:r>
            <a:endParaRPr sz="1900"/>
          </a:p>
          <a:p>
            <a:pPr indent="-349250" lvl="2" marL="1371600" rtl="0" algn="l">
              <a:spcBef>
                <a:spcPts val="0"/>
              </a:spcBef>
              <a:spcAft>
                <a:spcPts val="0"/>
              </a:spcAft>
              <a:buSzPts val="1900"/>
              <a:buChar char="-"/>
            </a:pPr>
            <a:r>
              <a:rPr lang="en" sz="1900"/>
              <a:t>Named volumes (inside the Docker VM)</a:t>
            </a:r>
            <a:endParaRPr sz="1900"/>
          </a:p>
          <a:p>
            <a:pPr indent="-349250" lvl="2" marL="1371600" rtl="0" algn="l">
              <a:spcBef>
                <a:spcPts val="0"/>
              </a:spcBef>
              <a:spcAft>
                <a:spcPts val="0"/>
              </a:spcAft>
              <a:buSzPts val="1900"/>
              <a:buChar char="-"/>
            </a:pPr>
            <a:r>
              <a:rPr lang="en" sz="1900"/>
              <a:t>Bind mounts (alias for a host folder)</a:t>
            </a:r>
            <a:endParaRPr sz="1900"/>
          </a:p>
          <a:p>
            <a:pPr indent="-349250" lvl="1" marL="914400" rtl="0" algn="l">
              <a:spcBef>
                <a:spcPts val="0"/>
              </a:spcBef>
              <a:spcAft>
                <a:spcPts val="0"/>
              </a:spcAft>
              <a:buSzPts val="1900"/>
              <a:buChar char="-"/>
            </a:pPr>
            <a:r>
              <a:rPr lang="en" sz="1900"/>
              <a:t>Networks: Container ←→ Container</a:t>
            </a:r>
            <a:endParaRPr sz="19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latin typeface="Courier New"/>
                <a:ea typeface="Courier New"/>
                <a:cs typeface="Courier New"/>
                <a:sym typeface="Courier New"/>
              </a:rPr>
              <a:t>docker run</a:t>
            </a:r>
            <a:r>
              <a:rPr lang="en"/>
              <a:t> versus </a:t>
            </a:r>
            <a:r>
              <a:rPr b="1" lang="en">
                <a:latin typeface="Courier New"/>
                <a:ea typeface="Courier New"/>
                <a:cs typeface="Courier New"/>
                <a:sym typeface="Courier New"/>
              </a:rPr>
              <a:t>docker start</a:t>
            </a:r>
            <a:endParaRPr b="1">
              <a:latin typeface="Courier New"/>
              <a:ea typeface="Courier New"/>
              <a:cs typeface="Courier New"/>
              <a:sym typeface="Courier New"/>
            </a:endParaRPr>
          </a:p>
        </p:txBody>
      </p:sp>
      <p:sp>
        <p:nvSpPr>
          <p:cNvPr id="234" name="Google Shape;234;p33"/>
          <p:cNvSpPr txBox="1"/>
          <p:nvPr>
            <p:ph idx="1" type="body"/>
          </p:nvPr>
        </p:nvSpPr>
        <p:spPr>
          <a:xfrm>
            <a:off x="311700" y="1105900"/>
            <a:ext cx="8520600" cy="35886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
              <a:t>We run the docker CLI from a terminal: </a:t>
            </a:r>
            <a:r>
              <a:rPr b="1" lang="en">
                <a:latin typeface="Courier New"/>
                <a:ea typeface="Courier New"/>
                <a:cs typeface="Courier New"/>
                <a:sym typeface="Courier New"/>
              </a:rPr>
              <a:t>docker &lt;action&gt; &lt;etc&gt;</a:t>
            </a:r>
            <a:endParaRPr b="1">
              <a:latin typeface="Courier New"/>
              <a:ea typeface="Courier New"/>
              <a:cs typeface="Courier New"/>
              <a:sym typeface="Courier New"/>
            </a:endParaRPr>
          </a:p>
          <a:p>
            <a:pPr indent="-342900" lvl="0" marL="457200" rtl="0" algn="l">
              <a:spcBef>
                <a:spcPts val="0"/>
              </a:spcBef>
              <a:spcAft>
                <a:spcPts val="0"/>
              </a:spcAft>
              <a:buSzPts val="1800"/>
              <a:buChar char="-"/>
            </a:pPr>
            <a:r>
              <a:rPr b="1" lang="en">
                <a:latin typeface="Courier New"/>
                <a:ea typeface="Courier New"/>
                <a:cs typeface="Courier New"/>
                <a:sym typeface="Courier New"/>
              </a:rPr>
              <a:t>docker</a:t>
            </a:r>
            <a:r>
              <a:rPr b="1" lang="en">
                <a:latin typeface="Courier New"/>
                <a:ea typeface="Courier New"/>
                <a:cs typeface="Courier New"/>
                <a:sym typeface="Courier New"/>
              </a:rPr>
              <a:t> run</a:t>
            </a:r>
            <a:r>
              <a:rPr lang="en"/>
              <a:t>: Create a container from an image and run the container</a:t>
            </a:r>
            <a:endParaRPr/>
          </a:p>
          <a:p>
            <a:pPr indent="-317500" lvl="1" marL="914400" rtl="0" algn="l">
              <a:spcBef>
                <a:spcPts val="0"/>
              </a:spcBef>
              <a:spcAft>
                <a:spcPts val="0"/>
              </a:spcAft>
              <a:buSzPts val="1400"/>
              <a:buChar char="-"/>
            </a:pPr>
            <a:r>
              <a:rPr lang="en"/>
              <a:t>default behavior: Attach the terminal to the container’s standard output</a:t>
            </a:r>
            <a:endParaRPr/>
          </a:p>
          <a:p>
            <a:pPr indent="0" lvl="0" marL="0" rtl="0" algn="ctr">
              <a:spcBef>
                <a:spcPts val="1200"/>
              </a:spcBef>
              <a:spcAft>
                <a:spcPts val="0"/>
              </a:spcAft>
              <a:buNone/>
            </a:pPr>
            <a:r>
              <a:rPr lang="en"/>
              <a:t>…contrast with…</a:t>
            </a:r>
            <a:endParaRPr/>
          </a:p>
          <a:p>
            <a:pPr indent="-342900" lvl="0" marL="457200" rtl="0" algn="l">
              <a:spcBef>
                <a:spcPts val="1200"/>
              </a:spcBef>
              <a:spcAft>
                <a:spcPts val="0"/>
              </a:spcAft>
              <a:buSzPts val="1800"/>
              <a:buChar char="-"/>
            </a:pPr>
            <a:r>
              <a:rPr b="1" lang="en">
                <a:latin typeface="Courier New"/>
                <a:ea typeface="Courier New"/>
                <a:cs typeface="Courier New"/>
                <a:sym typeface="Courier New"/>
              </a:rPr>
              <a:t>docker start</a:t>
            </a:r>
            <a:r>
              <a:rPr lang="en"/>
              <a:t>: Container already exists; so start it up</a:t>
            </a:r>
            <a:endParaRPr/>
          </a:p>
          <a:p>
            <a:pPr indent="-317500" lvl="1" marL="914400" rtl="0" algn="l">
              <a:spcBef>
                <a:spcPts val="0"/>
              </a:spcBef>
              <a:spcAft>
                <a:spcPts val="0"/>
              </a:spcAft>
              <a:buSzPts val="1400"/>
              <a:buChar char="-"/>
            </a:pPr>
            <a:r>
              <a:rPr lang="en"/>
              <a:t>default behavior: This container is </a:t>
            </a:r>
            <a:r>
              <a:rPr lang="en"/>
              <a:t>old news so terminal is not connected to standard output</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We can override the </a:t>
            </a:r>
            <a:r>
              <a:rPr b="1" lang="en">
                <a:latin typeface="Courier New"/>
                <a:ea typeface="Courier New"/>
                <a:cs typeface="Courier New"/>
                <a:sym typeface="Courier New"/>
              </a:rPr>
              <a:t>start </a:t>
            </a:r>
            <a:r>
              <a:rPr lang="en"/>
              <a:t>default behavior using </a:t>
            </a:r>
            <a:r>
              <a:rPr b="1" lang="en">
                <a:latin typeface="Courier New"/>
                <a:ea typeface="Courier New"/>
                <a:cs typeface="Courier New"/>
                <a:sym typeface="Courier New"/>
              </a:rPr>
              <a:t>-a</a:t>
            </a:r>
            <a:r>
              <a:rPr lang="en"/>
              <a:t> for “attach”</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					This wires up the Container output to the terminal display</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End of Part 5 Summary + Context</a:t>
            </a:r>
            <a:endParaRPr/>
          </a:p>
        </p:txBody>
      </p:sp>
      <p:sp>
        <p:nvSpPr>
          <p:cNvPr id="240" name="Google Shape;240;p34"/>
          <p:cNvSpPr txBox="1"/>
          <p:nvPr>
            <p:ph idx="1" type="body"/>
          </p:nvPr>
        </p:nvSpPr>
        <p:spPr>
          <a:xfrm>
            <a:off x="311700" y="130120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Remaining:</a:t>
            </a:r>
            <a:endParaRPr/>
          </a:p>
          <a:p>
            <a:pPr indent="-342900" lvl="0" marL="457200" rtl="0" algn="l">
              <a:spcBef>
                <a:spcPts val="1200"/>
              </a:spcBef>
              <a:spcAft>
                <a:spcPts val="0"/>
              </a:spcAft>
              <a:buSzPts val="1800"/>
              <a:buChar char="-"/>
            </a:pPr>
            <a:r>
              <a:rPr lang="en"/>
              <a:t>Two Container build, test</a:t>
            </a:r>
            <a:endParaRPr/>
          </a:p>
          <a:p>
            <a:pPr indent="0" lvl="0" marL="457200" rtl="0" algn="l">
              <a:spcBef>
                <a:spcPts val="1200"/>
              </a:spcBef>
              <a:spcAft>
                <a:spcPts val="0"/>
              </a:spcAft>
              <a:buNone/>
            </a:pPr>
            <a:r>
              <a:t/>
            </a:r>
            <a:endParaRPr/>
          </a:p>
          <a:p>
            <a:pPr indent="-342900" lvl="0" marL="457200" rtl="0" algn="l">
              <a:spcBef>
                <a:spcPts val="1200"/>
              </a:spcBef>
              <a:spcAft>
                <a:spcPts val="0"/>
              </a:spcAft>
              <a:buSzPts val="1800"/>
              <a:buChar char="-"/>
            </a:pPr>
            <a:r>
              <a:rPr lang="en"/>
              <a:t>ResNet build, test</a:t>
            </a:r>
            <a:endParaRPr/>
          </a:p>
          <a:p>
            <a:pPr indent="0" lvl="0" marL="457200" rtl="0" algn="l">
              <a:spcBef>
                <a:spcPts val="1200"/>
              </a:spcBef>
              <a:spcAft>
                <a:spcPts val="0"/>
              </a:spcAft>
              <a:buNone/>
            </a:pPr>
            <a:r>
              <a:t/>
            </a:r>
            <a:endParaRPr/>
          </a:p>
          <a:p>
            <a:pPr indent="-342900" lvl="0" marL="457200" rtl="0" algn="l">
              <a:spcBef>
                <a:spcPts val="1200"/>
              </a:spcBef>
              <a:spcAft>
                <a:spcPts val="0"/>
              </a:spcAft>
              <a:buSzPts val="1800"/>
              <a:buChar char="-"/>
            </a:pPr>
            <a:r>
              <a:rPr lang="en"/>
              <a:t>Summary &amp; Conclusion</a:t>
            </a:r>
            <a:endParaRPr/>
          </a:p>
        </p:txBody>
      </p:sp>
      <p:pic>
        <p:nvPicPr>
          <p:cNvPr id="241" name="Google Shape;241;p34"/>
          <p:cNvPicPr preferRelativeResize="0"/>
          <p:nvPr/>
        </p:nvPicPr>
        <p:blipFill>
          <a:blip r:embed="rId3">
            <a:alphaModFix/>
          </a:blip>
          <a:stretch>
            <a:fillRect/>
          </a:stretch>
        </p:blipFill>
        <p:spPr>
          <a:xfrm>
            <a:off x="4724370" y="3389070"/>
            <a:ext cx="3782650" cy="866975"/>
          </a:xfrm>
          <a:prstGeom prst="rect">
            <a:avLst/>
          </a:prstGeom>
          <a:noFill/>
          <a:ln>
            <a:noFill/>
          </a:ln>
        </p:spPr>
      </p:pic>
      <p:cxnSp>
        <p:nvCxnSpPr>
          <p:cNvPr id="242" name="Google Shape;242;p34"/>
          <p:cNvCxnSpPr>
            <a:endCxn id="241" idx="1"/>
          </p:cNvCxnSpPr>
          <p:nvPr/>
        </p:nvCxnSpPr>
        <p:spPr>
          <a:xfrm>
            <a:off x="2716770" y="2951657"/>
            <a:ext cx="2007600" cy="870900"/>
          </a:xfrm>
          <a:prstGeom prst="straightConnector1">
            <a:avLst/>
          </a:prstGeom>
          <a:noFill/>
          <a:ln cap="flat" cmpd="sng" w="28575">
            <a:solidFill>
              <a:srgbClr val="00FF00"/>
            </a:solidFill>
            <a:prstDash val="solid"/>
            <a:round/>
            <a:headEnd len="med" w="med" type="none"/>
            <a:tailEnd len="med" w="med" type="none"/>
          </a:ln>
        </p:spPr>
      </p:cxnSp>
      <p:pic>
        <p:nvPicPr>
          <p:cNvPr id="243" name="Google Shape;243;p34"/>
          <p:cNvPicPr preferRelativeResize="0"/>
          <p:nvPr/>
        </p:nvPicPr>
        <p:blipFill>
          <a:blip r:embed="rId4">
            <a:alphaModFix/>
          </a:blip>
          <a:stretch>
            <a:fillRect/>
          </a:stretch>
        </p:blipFill>
        <p:spPr>
          <a:xfrm>
            <a:off x="5923700" y="1363725"/>
            <a:ext cx="2908600" cy="1271750"/>
          </a:xfrm>
          <a:prstGeom prst="rect">
            <a:avLst/>
          </a:prstGeom>
          <a:noFill/>
          <a:ln>
            <a:noFill/>
          </a:ln>
        </p:spPr>
      </p:pic>
      <p:cxnSp>
        <p:nvCxnSpPr>
          <p:cNvPr id="244" name="Google Shape;244;p34"/>
          <p:cNvCxnSpPr>
            <a:endCxn id="243" idx="1"/>
          </p:cNvCxnSpPr>
          <p:nvPr/>
        </p:nvCxnSpPr>
        <p:spPr>
          <a:xfrm>
            <a:off x="3425600" y="1999600"/>
            <a:ext cx="2498100" cy="0"/>
          </a:xfrm>
          <a:prstGeom prst="straightConnector1">
            <a:avLst/>
          </a:prstGeom>
          <a:noFill/>
          <a:ln cap="flat" cmpd="sng" w="28575">
            <a:solidFill>
              <a:srgbClr val="00FF00"/>
            </a:solidFill>
            <a:prstDash val="solid"/>
            <a:round/>
            <a:headEnd len="med" w="med" type="none"/>
            <a:tailEnd len="med" w="med" type="none"/>
          </a:ln>
        </p:spPr>
      </p:cxnSp>
      <p:sp>
        <p:nvSpPr>
          <p:cNvPr id="245" name="Google Shape;245;p34"/>
          <p:cNvSpPr/>
          <p:nvPr/>
        </p:nvSpPr>
        <p:spPr>
          <a:xfrm>
            <a:off x="5919675" y="1352675"/>
            <a:ext cx="2887500" cy="1219200"/>
          </a:xfrm>
          <a:prstGeom prst="rect">
            <a:avLst/>
          </a:prstGeom>
          <a:noFill/>
          <a:ln cap="flat" cmpd="sng" w="19050">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6" name="Google Shape;246;p34"/>
          <p:cNvSpPr/>
          <p:nvPr/>
        </p:nvSpPr>
        <p:spPr>
          <a:xfrm>
            <a:off x="4724375" y="3243725"/>
            <a:ext cx="3782700" cy="1219200"/>
          </a:xfrm>
          <a:prstGeom prst="rect">
            <a:avLst/>
          </a:prstGeom>
          <a:noFill/>
          <a:ln cap="flat" cmpd="sng" w="19050">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47" name="Google Shape;247;p34" title="boom.png"/>
          <p:cNvPicPr preferRelativeResize="0"/>
          <p:nvPr/>
        </p:nvPicPr>
        <p:blipFill>
          <a:blip r:embed="rId5">
            <a:alphaModFix/>
          </a:blip>
          <a:stretch>
            <a:fillRect/>
          </a:stretch>
        </p:blipFill>
        <p:spPr>
          <a:xfrm>
            <a:off x="1649600" y="4076150"/>
            <a:ext cx="736625" cy="10673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Part 6: Two Containers Working Together</a:t>
            </a:r>
            <a:endParaRPr/>
          </a:p>
        </p:txBody>
      </p:sp>
      <p:sp>
        <p:nvSpPr>
          <p:cNvPr id="253" name="Google Shape;253;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0000" lnSpcReduction="10000"/>
          </a:bodyPr>
          <a:lstStyle/>
          <a:p>
            <a:pPr indent="0" lvl="0" marL="0" rtl="0" algn="l">
              <a:spcBef>
                <a:spcPts val="0"/>
              </a:spcBef>
              <a:spcAft>
                <a:spcPts val="0"/>
              </a:spcAft>
              <a:buNone/>
            </a:pPr>
            <a:r>
              <a:rPr lang="en"/>
              <a:t>Container Duality (isolation ~ connection) provides for creating networks defined within the Docker VM. Result: Multiple Containers on a single host can intercommunicate. </a:t>
            </a:r>
            <a:endParaRPr/>
          </a:p>
          <a:p>
            <a:pPr indent="0" lvl="0" marL="0" rtl="0" algn="l">
              <a:spcBef>
                <a:spcPts val="1200"/>
              </a:spcBef>
              <a:spcAft>
                <a:spcPts val="0"/>
              </a:spcAft>
              <a:buNone/>
            </a:pPr>
            <a:r>
              <a:rPr lang="en"/>
              <a:t>This example: One Container acts as a frontend (User-oriented) piece of a web application. Second Container is the backend: Evaluates a positive integer as prime or composite.</a:t>
            </a:r>
            <a:endParaRPr/>
          </a:p>
          <a:p>
            <a:pPr indent="0" lvl="0" marL="0" rtl="0" algn="l">
              <a:spcBef>
                <a:spcPts val="1200"/>
              </a:spcBef>
              <a:spcAft>
                <a:spcPts val="0"/>
              </a:spcAft>
              <a:buNone/>
            </a:pPr>
            <a:r>
              <a:rPr lang="en"/>
              <a:t>Both Containers use the Flask web framework (from Python)</a:t>
            </a:r>
            <a:endParaRPr/>
          </a:p>
          <a:p>
            <a:pPr indent="0" lvl="0" marL="0" rtl="0" algn="l">
              <a:spcBef>
                <a:spcPts val="1200"/>
              </a:spcBef>
              <a:spcAft>
                <a:spcPts val="0"/>
              </a:spcAft>
              <a:buNone/>
            </a:pPr>
            <a:r>
              <a:rPr lang="en"/>
              <a:t>We run both Containers on our host. Test by copying this URL into the browser: </a:t>
            </a:r>
            <a:r>
              <a:rPr lang="en" u="sng">
                <a:solidFill>
                  <a:schemeClr val="hlink"/>
                </a:solidFill>
                <a:hlinkClick r:id="rId3"/>
              </a:rPr>
              <a:t>http://localhost:8080</a:t>
            </a:r>
            <a:r>
              <a:rPr lang="en"/>
              <a:t>. Prep commands:</a:t>
            </a:r>
            <a:endParaRPr/>
          </a:p>
          <a:p>
            <a:pPr indent="-308610" lvl="0" marL="457200" rtl="0" algn="l">
              <a:spcBef>
                <a:spcPts val="1200"/>
              </a:spcBef>
              <a:spcAft>
                <a:spcPts val="0"/>
              </a:spcAft>
              <a:buSzPct val="100000"/>
              <a:buChar char="-"/>
            </a:pPr>
            <a:r>
              <a:rPr lang="en"/>
              <a:t>Create the network</a:t>
            </a:r>
            <a:endParaRPr/>
          </a:p>
          <a:p>
            <a:pPr indent="-308610" lvl="0" marL="457200" rtl="0" algn="l">
              <a:spcBef>
                <a:spcPts val="0"/>
              </a:spcBef>
              <a:spcAft>
                <a:spcPts val="0"/>
              </a:spcAft>
              <a:buSzPct val="100000"/>
              <a:buChar char="-"/>
            </a:pPr>
            <a:r>
              <a:rPr lang="en"/>
              <a:t>Build the front-end Image</a:t>
            </a:r>
            <a:endParaRPr/>
          </a:p>
          <a:p>
            <a:pPr indent="-308610" lvl="0" marL="457200" rtl="0" algn="l">
              <a:spcBef>
                <a:spcPts val="0"/>
              </a:spcBef>
              <a:spcAft>
                <a:spcPts val="0"/>
              </a:spcAft>
              <a:buSzPct val="100000"/>
              <a:buChar char="-"/>
            </a:pPr>
            <a:r>
              <a:rPr lang="en"/>
              <a:t>Build the back-end Image</a:t>
            </a:r>
            <a:endParaRPr/>
          </a:p>
          <a:p>
            <a:pPr indent="-308610" lvl="0" marL="457200" rtl="0" algn="l">
              <a:spcBef>
                <a:spcPts val="0"/>
              </a:spcBef>
              <a:spcAft>
                <a:spcPts val="0"/>
              </a:spcAft>
              <a:buSzPct val="100000"/>
              <a:buChar char="-"/>
            </a:pPr>
            <a:r>
              <a:rPr lang="en"/>
              <a:t>Run the front-end Image → front-end Container</a:t>
            </a:r>
            <a:endParaRPr/>
          </a:p>
          <a:p>
            <a:pPr indent="-308610" lvl="0" marL="457200" rtl="0" algn="l">
              <a:spcBef>
                <a:spcPts val="0"/>
              </a:spcBef>
              <a:spcAft>
                <a:spcPts val="0"/>
              </a:spcAft>
              <a:buSzPct val="100000"/>
              <a:buChar char="-"/>
            </a:pPr>
            <a:r>
              <a:rPr lang="en"/>
              <a:t>Run the back-end Image → back-end Container</a:t>
            </a:r>
            <a:endParaRPr/>
          </a:p>
          <a:p>
            <a:pPr indent="-308610" lvl="0" marL="457200" rtl="0" algn="l">
              <a:spcBef>
                <a:spcPts val="0"/>
              </a:spcBef>
              <a:spcAft>
                <a:spcPts val="0"/>
              </a:spcAft>
              <a:buSzPct val="100000"/>
              <a:buChar char="-"/>
            </a:pPr>
            <a:r>
              <a:rPr b="1" lang="en">
                <a:latin typeface="Courier New"/>
                <a:ea typeface="Courier New"/>
                <a:cs typeface="Courier New"/>
                <a:sym typeface="Courier New"/>
              </a:rPr>
              <a:t>docker ps</a:t>
            </a:r>
            <a:r>
              <a:rPr lang="en"/>
              <a:t> 								(to verify the Containers are running)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Part 6: Two Containers Working Together</a:t>
            </a:r>
            <a:endParaRPr/>
          </a:p>
        </p:txBody>
      </p:sp>
      <p:sp>
        <p:nvSpPr>
          <p:cNvPr id="259" name="Google Shape;259;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152400" marR="152400" rtl="0" algn="l">
              <a:lnSpc>
                <a:spcPct val="145000"/>
              </a:lnSpc>
              <a:spcBef>
                <a:spcPts val="0"/>
              </a:spcBef>
              <a:spcAft>
                <a:spcPts val="0"/>
              </a:spcAft>
              <a:buNone/>
            </a:pPr>
            <a:r>
              <a:rPr b="1" lang="en" sz="1400">
                <a:solidFill>
                  <a:srgbClr val="1F2328"/>
                </a:solidFill>
                <a:highlight>
                  <a:srgbClr val="F6F8FA"/>
                </a:highlight>
                <a:latin typeface="Courier New"/>
                <a:ea typeface="Courier New"/>
                <a:cs typeface="Courier New"/>
                <a:sym typeface="Courier New"/>
              </a:rPr>
              <a:t>docker network create prime-net</a:t>
            </a:r>
            <a:endParaRPr b="1" sz="1400">
              <a:solidFill>
                <a:srgbClr val="1F2328"/>
              </a:solidFill>
              <a:highlight>
                <a:srgbClr val="F6F8FA"/>
              </a:highlight>
              <a:latin typeface="Courier New"/>
              <a:ea typeface="Courier New"/>
              <a:cs typeface="Courier New"/>
              <a:sym typeface="Courier New"/>
            </a:endParaRPr>
          </a:p>
          <a:p>
            <a:pPr indent="0" lvl="0" marL="152400" marR="152400" rtl="0" algn="l">
              <a:lnSpc>
                <a:spcPct val="145000"/>
              </a:lnSpc>
              <a:spcBef>
                <a:spcPts val="0"/>
              </a:spcBef>
              <a:spcAft>
                <a:spcPts val="0"/>
              </a:spcAft>
              <a:buNone/>
            </a:pPr>
            <a:r>
              <a:rPr b="1" lang="en" sz="1400">
                <a:solidFill>
                  <a:srgbClr val="1F2328"/>
                </a:solidFill>
                <a:highlight>
                  <a:srgbClr val="F6F8FA"/>
                </a:highlight>
                <a:latin typeface="Courier New"/>
                <a:ea typeface="Courier New"/>
                <a:cs typeface="Courier New"/>
                <a:sym typeface="Courier New"/>
              </a:rPr>
              <a:t>docker build -t prime-checker </a:t>
            </a:r>
            <a:r>
              <a:rPr b="1" lang="en" sz="1400">
                <a:solidFill>
                  <a:srgbClr val="0550AE"/>
                </a:solidFill>
                <a:highlight>
                  <a:srgbClr val="F6F8FA"/>
                </a:highlight>
                <a:latin typeface="Courier New"/>
                <a:ea typeface="Courier New"/>
                <a:cs typeface="Courier New"/>
                <a:sym typeface="Courier New"/>
              </a:rPr>
              <a:t>.</a:t>
            </a:r>
            <a:endParaRPr b="1" sz="1400">
              <a:solidFill>
                <a:srgbClr val="0550AE"/>
              </a:solidFill>
              <a:highlight>
                <a:srgbClr val="F6F8FA"/>
              </a:highlight>
              <a:latin typeface="Courier New"/>
              <a:ea typeface="Courier New"/>
              <a:cs typeface="Courier New"/>
              <a:sym typeface="Courier New"/>
            </a:endParaRPr>
          </a:p>
          <a:p>
            <a:pPr indent="0" lvl="0" marL="152400" marR="152400" rtl="0" algn="l">
              <a:lnSpc>
                <a:spcPct val="145000"/>
              </a:lnSpc>
              <a:spcBef>
                <a:spcPts val="0"/>
              </a:spcBef>
              <a:spcAft>
                <a:spcPts val="0"/>
              </a:spcAft>
              <a:buNone/>
            </a:pPr>
            <a:r>
              <a:rPr b="1" lang="en" sz="1400">
                <a:solidFill>
                  <a:srgbClr val="1F2328"/>
                </a:solidFill>
                <a:highlight>
                  <a:srgbClr val="F6F8FA"/>
                </a:highlight>
                <a:latin typeface="Courier New"/>
                <a:ea typeface="Courier New"/>
                <a:cs typeface="Courier New"/>
                <a:sym typeface="Courier New"/>
              </a:rPr>
              <a:t>docker build -t prime-frontend </a:t>
            </a:r>
            <a:r>
              <a:rPr b="1" lang="en" sz="1400">
                <a:solidFill>
                  <a:srgbClr val="0550AE"/>
                </a:solidFill>
                <a:highlight>
                  <a:srgbClr val="F6F8FA"/>
                </a:highlight>
                <a:latin typeface="Courier New"/>
                <a:ea typeface="Courier New"/>
                <a:cs typeface="Courier New"/>
                <a:sym typeface="Courier New"/>
              </a:rPr>
              <a:t>.</a:t>
            </a:r>
            <a:endParaRPr b="1" sz="1400">
              <a:solidFill>
                <a:srgbClr val="0550AE"/>
              </a:solidFill>
              <a:highlight>
                <a:srgbClr val="F6F8FA"/>
              </a:highlight>
              <a:latin typeface="Courier New"/>
              <a:ea typeface="Courier New"/>
              <a:cs typeface="Courier New"/>
              <a:sym typeface="Courier New"/>
            </a:endParaRPr>
          </a:p>
          <a:p>
            <a:pPr indent="0" lvl="0" marL="152400" marR="152400" rtl="0" algn="l">
              <a:lnSpc>
                <a:spcPct val="145000"/>
              </a:lnSpc>
              <a:spcBef>
                <a:spcPts val="0"/>
              </a:spcBef>
              <a:spcAft>
                <a:spcPts val="0"/>
              </a:spcAft>
              <a:buNone/>
            </a:pPr>
            <a:r>
              <a:rPr b="1" lang="en" sz="1400">
                <a:solidFill>
                  <a:srgbClr val="1F2328"/>
                </a:solidFill>
                <a:highlight>
                  <a:srgbClr val="F6F8FA"/>
                </a:highlight>
                <a:latin typeface="Courier New"/>
                <a:ea typeface="Courier New"/>
                <a:cs typeface="Courier New"/>
                <a:sym typeface="Courier New"/>
              </a:rPr>
              <a:t>docker images</a:t>
            </a:r>
            <a:endParaRPr b="1" sz="1400">
              <a:solidFill>
                <a:srgbClr val="1F2328"/>
              </a:solidFill>
              <a:highlight>
                <a:srgbClr val="F6F8FA"/>
              </a:highlight>
              <a:latin typeface="Courier New"/>
              <a:ea typeface="Courier New"/>
              <a:cs typeface="Courier New"/>
              <a:sym typeface="Courier New"/>
            </a:endParaRPr>
          </a:p>
          <a:p>
            <a:pPr indent="0" lvl="0" marL="152400" marR="152400" rtl="0" algn="l">
              <a:lnSpc>
                <a:spcPct val="145000"/>
              </a:lnSpc>
              <a:spcBef>
                <a:spcPts val="0"/>
              </a:spcBef>
              <a:spcAft>
                <a:spcPts val="0"/>
              </a:spcAft>
              <a:buNone/>
            </a:pPr>
            <a:r>
              <a:rPr b="1" lang="en" sz="1400">
                <a:solidFill>
                  <a:srgbClr val="1F2328"/>
                </a:solidFill>
                <a:highlight>
                  <a:srgbClr val="F6F8FA"/>
                </a:highlight>
                <a:latin typeface="Courier New"/>
                <a:ea typeface="Courier New"/>
                <a:cs typeface="Courier New"/>
                <a:sym typeface="Courier New"/>
              </a:rPr>
              <a:t>docker run -d --name prime-api --network prime-net prime-checker</a:t>
            </a:r>
            <a:endParaRPr b="1" sz="1400">
              <a:solidFill>
                <a:srgbClr val="1F2328"/>
              </a:solidFill>
              <a:highlight>
                <a:srgbClr val="F6F8FA"/>
              </a:highlight>
              <a:latin typeface="Courier New"/>
              <a:ea typeface="Courier New"/>
              <a:cs typeface="Courier New"/>
              <a:sym typeface="Courier New"/>
            </a:endParaRPr>
          </a:p>
          <a:p>
            <a:pPr indent="0" lvl="0" marL="152400" marR="152400" rtl="0" algn="l">
              <a:lnSpc>
                <a:spcPct val="145000"/>
              </a:lnSpc>
              <a:spcBef>
                <a:spcPts val="0"/>
              </a:spcBef>
              <a:spcAft>
                <a:spcPts val="0"/>
              </a:spcAft>
              <a:buNone/>
            </a:pPr>
            <a:r>
              <a:rPr b="1" lang="en" sz="1400">
                <a:solidFill>
                  <a:srgbClr val="1F2328"/>
                </a:solidFill>
                <a:highlight>
                  <a:srgbClr val="F6F8FA"/>
                </a:highlight>
                <a:latin typeface="Courier New"/>
                <a:ea typeface="Courier New"/>
                <a:cs typeface="Courier New"/>
                <a:sym typeface="Courier New"/>
              </a:rPr>
              <a:t>docker run -d --name prime-web --network prime-net -p 8080:8080 prime-frontend</a:t>
            </a:r>
            <a:endParaRPr b="1" sz="1400">
              <a:solidFill>
                <a:srgbClr val="1F2328"/>
              </a:solidFill>
              <a:highlight>
                <a:srgbClr val="F6F8FA"/>
              </a:highlight>
              <a:latin typeface="Courier New"/>
              <a:ea typeface="Courier New"/>
              <a:cs typeface="Courier New"/>
              <a:sym typeface="Courier New"/>
            </a:endParaRPr>
          </a:p>
          <a:p>
            <a:pPr indent="0" lvl="0" marL="152400" marR="152400" rtl="0" algn="l">
              <a:lnSpc>
                <a:spcPct val="145000"/>
              </a:lnSpc>
              <a:spcBef>
                <a:spcPts val="0"/>
              </a:spcBef>
              <a:spcAft>
                <a:spcPts val="0"/>
              </a:spcAft>
              <a:buNone/>
            </a:pPr>
            <a:r>
              <a:rPr b="1" lang="en" sz="1400">
                <a:solidFill>
                  <a:srgbClr val="1F2328"/>
                </a:solidFill>
                <a:highlight>
                  <a:srgbClr val="F6F8FA"/>
                </a:highlight>
                <a:latin typeface="Courier New"/>
                <a:ea typeface="Courier New"/>
                <a:cs typeface="Courier New"/>
                <a:sym typeface="Courier New"/>
              </a:rPr>
              <a:t>docker ps</a:t>
            </a:r>
            <a:endParaRPr b="1" sz="2200"/>
          </a:p>
          <a:p>
            <a:pPr indent="0" lvl="0" marL="0" rtl="0" algn="l">
              <a:spcBef>
                <a:spcPts val="0"/>
              </a:spcBef>
              <a:spcAft>
                <a:spcPts val="0"/>
              </a:spcAft>
              <a:buNone/>
            </a:pPr>
            <a:r>
              <a:t/>
            </a:r>
            <a:endParaRPr sz="500"/>
          </a:p>
          <a:p>
            <a:pPr indent="0" lvl="0" marL="0" rtl="0" algn="l">
              <a:spcBef>
                <a:spcPts val="1200"/>
              </a:spcBef>
              <a:spcAft>
                <a:spcPts val="1200"/>
              </a:spcAft>
              <a:buNone/>
            </a:pPr>
            <a:r>
              <a:rPr lang="en"/>
              <a:t>Test: Browser tab address bar: </a:t>
            </a:r>
            <a:r>
              <a:rPr b="1" lang="en">
                <a:latin typeface="Courier New"/>
                <a:ea typeface="Courier New"/>
                <a:cs typeface="Courier New"/>
                <a:sym typeface="Courier New"/>
              </a:rPr>
              <a:t>http://localhost:8080</a:t>
            </a:r>
            <a:endParaRPr b="1">
              <a:latin typeface="Courier New"/>
              <a:ea typeface="Courier New"/>
              <a:cs typeface="Courier New"/>
              <a:sym typeface="Courier New"/>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Read Later: </a:t>
            </a:r>
            <a:r>
              <a:rPr i="1" lang="en"/>
              <a:t>Prime Check</a:t>
            </a:r>
            <a:r>
              <a:rPr lang="en"/>
              <a:t> localhost web app narrative</a:t>
            </a:r>
            <a:endParaRPr/>
          </a:p>
        </p:txBody>
      </p:sp>
      <p:sp>
        <p:nvSpPr>
          <p:cNvPr id="265" name="Google Shape;265;p37"/>
          <p:cNvSpPr txBox="1"/>
          <p:nvPr>
            <p:ph idx="1" type="body"/>
          </p:nvPr>
        </p:nvSpPr>
        <p:spPr>
          <a:xfrm>
            <a:off x="311700" y="1017725"/>
            <a:ext cx="8520600" cy="40554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None/>
            </a:pPr>
            <a:r>
              <a:rPr lang="en" sz="1000">
                <a:solidFill>
                  <a:srgbClr val="616161"/>
                </a:solidFill>
                <a:highlight>
                  <a:srgbClr val="FFFFFF"/>
                </a:highlight>
              </a:rPr>
              <a:t>We have two directories: </a:t>
            </a:r>
            <a:r>
              <a:rPr b="1" lang="en" sz="1000">
                <a:solidFill>
                  <a:srgbClr val="616161"/>
                </a:solidFill>
                <a:highlight>
                  <a:srgbClr val="FFFFFF"/>
                </a:highlight>
                <a:latin typeface="Courier New"/>
                <a:ea typeface="Courier New"/>
                <a:cs typeface="Courier New"/>
                <a:sym typeface="Courier New"/>
              </a:rPr>
              <a:t>prime-frontend</a:t>
            </a:r>
            <a:r>
              <a:rPr lang="en" sz="1000">
                <a:solidFill>
                  <a:srgbClr val="616161"/>
                </a:solidFill>
                <a:highlight>
                  <a:srgbClr val="FFFFFF"/>
                </a:highlight>
              </a:rPr>
              <a:t> and </a:t>
            </a:r>
            <a:r>
              <a:rPr b="1" lang="en" sz="1000">
                <a:solidFill>
                  <a:srgbClr val="616161"/>
                </a:solidFill>
                <a:highlight>
                  <a:srgbClr val="FFFFFF"/>
                </a:highlight>
                <a:latin typeface="Courier New"/>
                <a:ea typeface="Courier New"/>
                <a:cs typeface="Courier New"/>
                <a:sym typeface="Courier New"/>
              </a:rPr>
              <a:t>prime-checker</a:t>
            </a:r>
            <a:r>
              <a:rPr lang="en" sz="1000">
                <a:solidFill>
                  <a:srgbClr val="616161"/>
                </a:solidFill>
                <a:highlight>
                  <a:srgbClr val="FFFFFF"/>
                </a:highlight>
              </a:rPr>
              <a:t>. These include respective Dockerfiles used to build two Images called </a:t>
            </a:r>
            <a:r>
              <a:rPr b="1" lang="en" sz="1000">
                <a:solidFill>
                  <a:srgbClr val="616161"/>
                </a:solidFill>
                <a:highlight>
                  <a:srgbClr val="FFFFFF"/>
                </a:highlight>
                <a:latin typeface="Courier New"/>
                <a:ea typeface="Courier New"/>
                <a:cs typeface="Courier New"/>
                <a:sym typeface="Courier New"/>
              </a:rPr>
              <a:t>prime-frontend</a:t>
            </a:r>
            <a:r>
              <a:rPr lang="en" sz="1000">
                <a:solidFill>
                  <a:srgbClr val="616161"/>
                </a:solidFill>
                <a:highlight>
                  <a:srgbClr val="FFFFFF"/>
                </a:highlight>
              </a:rPr>
              <a:t> and </a:t>
            </a:r>
            <a:r>
              <a:rPr b="1" lang="en" sz="1000">
                <a:solidFill>
                  <a:srgbClr val="616161"/>
                </a:solidFill>
                <a:highlight>
                  <a:srgbClr val="FFFFFF"/>
                </a:highlight>
                <a:latin typeface="Courier New"/>
                <a:ea typeface="Courier New"/>
                <a:cs typeface="Courier New"/>
                <a:sym typeface="Courier New"/>
              </a:rPr>
              <a:t>prime-checker</a:t>
            </a:r>
            <a:r>
              <a:rPr lang="en" sz="1000">
                <a:solidFill>
                  <a:srgbClr val="616161"/>
                </a:solidFill>
                <a:highlight>
                  <a:srgbClr val="FFFFFF"/>
                </a:highlight>
              </a:rPr>
              <a:t>. </a:t>
            </a:r>
            <a:endParaRPr sz="1000">
              <a:solidFill>
                <a:srgbClr val="616161"/>
              </a:solidFill>
              <a:highlight>
                <a:srgbClr val="FFFFFF"/>
              </a:highlight>
            </a:endParaRPr>
          </a:p>
          <a:p>
            <a:pPr indent="0" lvl="0" marL="0" rtl="0" algn="l">
              <a:spcBef>
                <a:spcPts val="1200"/>
              </a:spcBef>
              <a:spcAft>
                <a:spcPts val="0"/>
              </a:spcAft>
              <a:buNone/>
            </a:pPr>
            <a:r>
              <a:rPr lang="en" sz="1000">
                <a:solidFill>
                  <a:srgbClr val="616161"/>
                </a:solidFill>
                <a:highlight>
                  <a:srgbClr val="FFFFFF"/>
                </a:highlight>
              </a:rPr>
              <a:t>These Images were used to create and run two Containers called </a:t>
            </a:r>
            <a:r>
              <a:rPr b="1" lang="en" sz="1000">
                <a:solidFill>
                  <a:srgbClr val="616161"/>
                </a:solidFill>
                <a:highlight>
                  <a:srgbClr val="FFFFFF"/>
                </a:highlight>
                <a:latin typeface="Courier New"/>
                <a:ea typeface="Courier New"/>
                <a:cs typeface="Courier New"/>
                <a:sym typeface="Courier New"/>
              </a:rPr>
              <a:t>prime-web</a:t>
            </a:r>
            <a:r>
              <a:rPr lang="en" sz="1000">
                <a:solidFill>
                  <a:srgbClr val="616161"/>
                </a:solidFill>
                <a:highlight>
                  <a:srgbClr val="FFFFFF"/>
                </a:highlight>
              </a:rPr>
              <a:t> and </a:t>
            </a:r>
            <a:r>
              <a:rPr b="1" lang="en" sz="1000">
                <a:solidFill>
                  <a:srgbClr val="616161"/>
                </a:solidFill>
                <a:highlight>
                  <a:srgbClr val="FFFFFF"/>
                </a:highlight>
                <a:latin typeface="Courier New"/>
                <a:ea typeface="Courier New"/>
                <a:cs typeface="Courier New"/>
                <a:sym typeface="Courier New"/>
              </a:rPr>
              <a:t>prime-api</a:t>
            </a:r>
            <a:r>
              <a:rPr lang="en" sz="1000">
                <a:solidFill>
                  <a:srgbClr val="616161"/>
                </a:solidFill>
                <a:highlight>
                  <a:srgbClr val="FFFFFF"/>
                </a:highlight>
              </a:rPr>
              <a:t>. </a:t>
            </a:r>
            <a:endParaRPr sz="1000">
              <a:solidFill>
                <a:srgbClr val="616161"/>
              </a:solidFill>
              <a:highlight>
                <a:srgbClr val="FFFFFF"/>
              </a:highlight>
            </a:endParaRPr>
          </a:p>
          <a:p>
            <a:pPr indent="0" lvl="0" marL="0" rtl="0" algn="l">
              <a:spcBef>
                <a:spcPts val="1200"/>
              </a:spcBef>
              <a:spcAft>
                <a:spcPts val="0"/>
              </a:spcAft>
              <a:buNone/>
            </a:pPr>
            <a:r>
              <a:rPr lang="en" sz="1000">
                <a:solidFill>
                  <a:srgbClr val="616161"/>
                </a:solidFill>
                <a:highlight>
                  <a:srgbClr val="FFFFFF"/>
                </a:highlight>
              </a:rPr>
              <a:t>We created a Docker network called </a:t>
            </a:r>
            <a:r>
              <a:rPr b="1" lang="en" sz="1000">
                <a:solidFill>
                  <a:srgbClr val="616161"/>
                </a:solidFill>
                <a:highlight>
                  <a:srgbClr val="FFFFFF"/>
                </a:highlight>
                <a:latin typeface="Courier New"/>
                <a:ea typeface="Courier New"/>
                <a:cs typeface="Courier New"/>
                <a:sym typeface="Courier New"/>
              </a:rPr>
              <a:t>prime-net</a:t>
            </a:r>
            <a:r>
              <a:rPr lang="en" sz="1000">
                <a:solidFill>
                  <a:srgbClr val="616161"/>
                </a:solidFill>
                <a:highlight>
                  <a:srgbClr val="FFFFFF"/>
                </a:highlight>
              </a:rPr>
              <a:t>.  </a:t>
            </a:r>
            <a:endParaRPr sz="1000">
              <a:solidFill>
                <a:srgbClr val="616161"/>
              </a:solidFill>
              <a:highlight>
                <a:srgbClr val="FFFFFF"/>
              </a:highlight>
            </a:endParaRPr>
          </a:p>
          <a:p>
            <a:pPr indent="0" lvl="0" marL="0" rtl="0" algn="l">
              <a:spcBef>
                <a:spcPts val="1200"/>
              </a:spcBef>
              <a:spcAft>
                <a:spcPts val="0"/>
              </a:spcAft>
              <a:buNone/>
            </a:pPr>
            <a:r>
              <a:rPr lang="en" sz="1000">
                <a:solidFill>
                  <a:srgbClr val="616161"/>
                </a:solidFill>
                <a:highlight>
                  <a:srgbClr val="FFFFFF"/>
                </a:highlight>
              </a:rPr>
              <a:t>We associate </a:t>
            </a:r>
            <a:r>
              <a:rPr b="1" lang="en" sz="1000">
                <a:solidFill>
                  <a:srgbClr val="616161"/>
                </a:solidFill>
                <a:highlight>
                  <a:srgbClr val="FFFFFF"/>
                </a:highlight>
                <a:latin typeface="Courier New"/>
                <a:ea typeface="Courier New"/>
                <a:cs typeface="Courier New"/>
                <a:sym typeface="Courier New"/>
              </a:rPr>
              <a:t>http://localhost:8080</a:t>
            </a:r>
            <a:r>
              <a:rPr lang="en" sz="1000">
                <a:solidFill>
                  <a:srgbClr val="616161"/>
                </a:solidFill>
                <a:highlight>
                  <a:srgbClr val="FFFFFF"/>
                </a:highlight>
              </a:rPr>
              <a:t> with the proxy server: The Container called </a:t>
            </a:r>
            <a:r>
              <a:rPr b="1" lang="en" sz="1000">
                <a:solidFill>
                  <a:srgbClr val="616161"/>
                </a:solidFill>
                <a:highlight>
                  <a:srgbClr val="FFFFFF"/>
                </a:highlight>
                <a:latin typeface="Courier New"/>
                <a:ea typeface="Courier New"/>
                <a:cs typeface="Courier New"/>
                <a:sym typeface="Courier New"/>
              </a:rPr>
              <a:t>prime-web</a:t>
            </a:r>
            <a:r>
              <a:rPr lang="en" sz="1000">
                <a:solidFill>
                  <a:srgbClr val="616161"/>
                </a:solidFill>
                <a:highlight>
                  <a:srgbClr val="FFFFFF"/>
                </a:highlight>
              </a:rPr>
              <a:t>. This association was established between the host machine port 8080 and the Container port 8080 (where Flask is listening for traffic) using</a:t>
            </a:r>
            <a:endParaRPr sz="1000">
              <a:solidFill>
                <a:srgbClr val="616161"/>
              </a:solidFill>
              <a:highlight>
                <a:srgbClr val="FFFFFF"/>
              </a:highlight>
            </a:endParaRPr>
          </a:p>
          <a:p>
            <a:pPr indent="457200" lvl="0" marL="0" rtl="0" algn="l">
              <a:spcBef>
                <a:spcPts val="1200"/>
              </a:spcBef>
              <a:spcAft>
                <a:spcPts val="0"/>
              </a:spcAft>
              <a:buNone/>
            </a:pPr>
            <a:r>
              <a:rPr b="1" lang="en" sz="1000">
                <a:solidFill>
                  <a:srgbClr val="616161"/>
                </a:solidFill>
                <a:highlight>
                  <a:srgbClr val="FFFFFF"/>
                </a:highlight>
                <a:latin typeface="Courier New"/>
                <a:ea typeface="Courier New"/>
                <a:cs typeface="Courier New"/>
                <a:sym typeface="Courier New"/>
              </a:rPr>
              <a:t>docker run -d --name prime-web --network prime-net -p 8080:8080 prime-frontend</a:t>
            </a:r>
            <a:endParaRPr b="1" sz="1000">
              <a:solidFill>
                <a:srgbClr val="616161"/>
              </a:solidFill>
              <a:highlight>
                <a:srgbClr val="FFFFFF"/>
              </a:highlight>
              <a:latin typeface="Courier New"/>
              <a:ea typeface="Courier New"/>
              <a:cs typeface="Courier New"/>
              <a:sym typeface="Courier New"/>
            </a:endParaRPr>
          </a:p>
          <a:p>
            <a:pPr indent="0" lvl="0" marL="0" rtl="0" algn="l">
              <a:spcBef>
                <a:spcPts val="1200"/>
              </a:spcBef>
              <a:spcAft>
                <a:spcPts val="0"/>
              </a:spcAft>
              <a:buNone/>
            </a:pPr>
            <a:r>
              <a:rPr lang="en" sz="1000">
                <a:solidFill>
                  <a:srgbClr val="616161"/>
                </a:solidFill>
                <a:highlight>
                  <a:srgbClr val="FFFFFF"/>
                </a:highlight>
              </a:rPr>
              <a:t>This </a:t>
            </a:r>
            <a:r>
              <a:rPr b="1" lang="en" sz="1000">
                <a:solidFill>
                  <a:srgbClr val="616161"/>
                </a:solidFill>
                <a:highlight>
                  <a:srgbClr val="FFFFFF"/>
                </a:highlight>
                <a:latin typeface="Courier New"/>
                <a:ea typeface="Courier New"/>
                <a:cs typeface="Courier New"/>
                <a:sym typeface="Courier New"/>
              </a:rPr>
              <a:t>docker</a:t>
            </a:r>
            <a:r>
              <a:rPr lang="en" sz="1000">
                <a:solidFill>
                  <a:srgbClr val="616161"/>
                </a:solidFill>
                <a:highlight>
                  <a:srgbClr val="FFFFFF"/>
                </a:highlight>
              </a:rPr>
              <a:t> command uses </a:t>
            </a:r>
            <a:r>
              <a:rPr b="1" lang="en" sz="1000">
                <a:solidFill>
                  <a:srgbClr val="616161"/>
                </a:solidFill>
                <a:highlight>
                  <a:srgbClr val="FFFFFF"/>
                </a:highlight>
                <a:latin typeface="Courier New"/>
                <a:ea typeface="Courier New"/>
                <a:cs typeface="Courier New"/>
                <a:sym typeface="Courier New"/>
              </a:rPr>
              <a:t>run: </a:t>
            </a:r>
            <a:r>
              <a:rPr lang="en" sz="1000">
                <a:solidFill>
                  <a:srgbClr val="616161"/>
                </a:solidFill>
                <a:highlight>
                  <a:srgbClr val="FFFFFF"/>
                </a:highlight>
              </a:rPr>
              <a:t>Converts the named Image to a Container and runs that Container. </a:t>
            </a:r>
            <a:endParaRPr sz="1000">
              <a:solidFill>
                <a:srgbClr val="616161"/>
              </a:solidFill>
              <a:highlight>
                <a:srgbClr val="FFFFFF"/>
              </a:highlight>
            </a:endParaRPr>
          </a:p>
          <a:p>
            <a:pPr indent="0" lvl="0" marL="0" rtl="0" algn="l">
              <a:spcBef>
                <a:spcPts val="1200"/>
              </a:spcBef>
              <a:spcAft>
                <a:spcPts val="0"/>
              </a:spcAft>
              <a:buNone/>
            </a:pPr>
            <a:r>
              <a:rPr lang="en" sz="1000">
                <a:solidFill>
                  <a:srgbClr val="616161"/>
                </a:solidFill>
                <a:highlight>
                  <a:srgbClr val="FFFFFF"/>
                </a:highlight>
              </a:rPr>
              <a:t>Uses the </a:t>
            </a:r>
            <a:r>
              <a:rPr b="1" lang="en" sz="1000">
                <a:solidFill>
                  <a:srgbClr val="616161"/>
                </a:solidFill>
                <a:highlight>
                  <a:srgbClr val="FFFFFF"/>
                </a:highlight>
                <a:latin typeface="Courier New"/>
                <a:ea typeface="Courier New"/>
                <a:cs typeface="Courier New"/>
                <a:sym typeface="Courier New"/>
              </a:rPr>
              <a:t>-d</a:t>
            </a:r>
            <a:r>
              <a:rPr lang="en" sz="1000">
                <a:solidFill>
                  <a:srgbClr val="616161"/>
                </a:solidFill>
                <a:highlight>
                  <a:srgbClr val="FFFFFF"/>
                </a:highlight>
              </a:rPr>
              <a:t> flag to run in detached mode, as a background task. (We get the cursor back right away.)</a:t>
            </a:r>
            <a:endParaRPr sz="1000">
              <a:solidFill>
                <a:srgbClr val="616161"/>
              </a:solidFill>
              <a:highlight>
                <a:srgbClr val="FFFFFF"/>
              </a:highlight>
            </a:endParaRPr>
          </a:p>
          <a:p>
            <a:pPr indent="0" lvl="0" marL="0" rtl="0" algn="l">
              <a:spcBef>
                <a:spcPts val="1200"/>
              </a:spcBef>
              <a:spcAft>
                <a:spcPts val="0"/>
              </a:spcAft>
              <a:buClr>
                <a:schemeClr val="dk1"/>
              </a:buClr>
              <a:buSzPct val="110000"/>
              <a:buFont typeface="Arial"/>
              <a:buNone/>
            </a:pPr>
            <a:r>
              <a:rPr lang="en" sz="1000">
                <a:solidFill>
                  <a:srgbClr val="616161"/>
                </a:solidFill>
                <a:highlight>
                  <a:schemeClr val="lt1"/>
                </a:highlight>
              </a:rPr>
              <a:t>The </a:t>
            </a:r>
            <a:r>
              <a:rPr b="1" lang="en" sz="1000">
                <a:solidFill>
                  <a:srgbClr val="616161"/>
                </a:solidFill>
                <a:highlight>
                  <a:schemeClr val="lt1"/>
                </a:highlight>
                <a:latin typeface="Courier New"/>
                <a:ea typeface="Courier New"/>
                <a:cs typeface="Courier New"/>
                <a:sym typeface="Courier New"/>
              </a:rPr>
              <a:t>-p</a:t>
            </a:r>
            <a:r>
              <a:rPr lang="en" sz="1000">
                <a:solidFill>
                  <a:srgbClr val="616161"/>
                </a:solidFill>
                <a:highlight>
                  <a:schemeClr val="lt1"/>
                </a:highlight>
              </a:rPr>
              <a:t> flag indicates a port mapping: </a:t>
            </a:r>
            <a:r>
              <a:rPr b="1" lang="en" sz="1000">
                <a:solidFill>
                  <a:srgbClr val="616161"/>
                </a:solidFill>
                <a:highlight>
                  <a:schemeClr val="lt1"/>
                </a:highlight>
                <a:latin typeface="Courier New"/>
                <a:ea typeface="Courier New"/>
                <a:cs typeface="Courier New"/>
                <a:sym typeface="Courier New"/>
              </a:rPr>
              <a:t>host port:Container port</a:t>
            </a:r>
            <a:r>
              <a:rPr lang="en" sz="1000">
                <a:solidFill>
                  <a:srgbClr val="616161"/>
                </a:solidFill>
                <a:highlight>
                  <a:schemeClr val="lt1"/>
                </a:highlight>
              </a:rPr>
              <a:t>. </a:t>
            </a:r>
            <a:endParaRPr sz="1000">
              <a:solidFill>
                <a:srgbClr val="616161"/>
              </a:solidFill>
              <a:highlight>
                <a:schemeClr val="lt1"/>
              </a:highlight>
            </a:endParaRPr>
          </a:p>
          <a:p>
            <a:pPr indent="0" lvl="0" marL="0" rtl="0" algn="l">
              <a:spcBef>
                <a:spcPts val="1200"/>
              </a:spcBef>
              <a:spcAft>
                <a:spcPts val="0"/>
              </a:spcAft>
              <a:buNone/>
            </a:pPr>
            <a:r>
              <a:rPr lang="en" sz="1000">
                <a:solidFill>
                  <a:srgbClr val="616161"/>
                </a:solidFill>
                <a:highlight>
                  <a:srgbClr val="FFFFFF"/>
                </a:highlight>
              </a:rPr>
              <a:t>We use </a:t>
            </a:r>
            <a:r>
              <a:rPr b="1" lang="en" sz="1000">
                <a:solidFill>
                  <a:srgbClr val="616161"/>
                </a:solidFill>
                <a:highlight>
                  <a:srgbClr val="FFFFFF"/>
                </a:highlight>
                <a:latin typeface="Courier New"/>
                <a:ea typeface="Courier New"/>
                <a:cs typeface="Courier New"/>
                <a:sym typeface="Courier New"/>
              </a:rPr>
              <a:t>docker run </a:t>
            </a:r>
            <a:r>
              <a:rPr lang="en" sz="1000">
                <a:solidFill>
                  <a:srgbClr val="616161"/>
                </a:solidFill>
                <a:highlight>
                  <a:srgbClr val="FFFFFF"/>
                </a:highlight>
              </a:rPr>
              <a:t>to start</a:t>
            </a:r>
            <a:r>
              <a:rPr b="1" lang="en" sz="1000">
                <a:solidFill>
                  <a:srgbClr val="616161"/>
                </a:solidFill>
                <a:highlight>
                  <a:srgbClr val="FFFFFF"/>
                </a:highlight>
                <a:latin typeface="Courier New"/>
                <a:ea typeface="Courier New"/>
                <a:cs typeface="Courier New"/>
                <a:sym typeface="Courier New"/>
              </a:rPr>
              <a:t> </a:t>
            </a:r>
            <a:r>
              <a:rPr b="1" lang="en" sz="1000">
                <a:solidFill>
                  <a:srgbClr val="616161"/>
                </a:solidFill>
                <a:highlight>
                  <a:srgbClr val="FFFFFF"/>
                </a:highlight>
                <a:latin typeface="Courier New"/>
                <a:ea typeface="Courier New"/>
                <a:cs typeface="Courier New"/>
                <a:sym typeface="Courier New"/>
              </a:rPr>
              <a:t>prime-api</a:t>
            </a:r>
            <a:r>
              <a:rPr lang="en" sz="1000">
                <a:solidFill>
                  <a:srgbClr val="616161"/>
                </a:solidFill>
                <a:highlight>
                  <a:srgbClr val="FFFFFF"/>
                </a:highlight>
              </a:rPr>
              <a:t> as well, also with </a:t>
            </a:r>
            <a:r>
              <a:rPr b="1" lang="en" sz="1000">
                <a:solidFill>
                  <a:srgbClr val="616161"/>
                </a:solidFill>
                <a:highlight>
                  <a:srgbClr val="FFFFFF"/>
                </a:highlight>
                <a:latin typeface="Courier New"/>
                <a:ea typeface="Courier New"/>
                <a:cs typeface="Courier New"/>
                <a:sym typeface="Courier New"/>
              </a:rPr>
              <a:t>--network prime-net</a:t>
            </a:r>
            <a:endParaRPr sz="1000">
              <a:solidFill>
                <a:srgbClr val="616161"/>
              </a:solidFill>
              <a:highlight>
                <a:srgbClr val="FFFFFF"/>
              </a:highlight>
            </a:endParaRPr>
          </a:p>
          <a:p>
            <a:pPr indent="0" lvl="0" marL="0" rtl="0" algn="l">
              <a:spcBef>
                <a:spcPts val="1200"/>
              </a:spcBef>
              <a:spcAft>
                <a:spcPts val="0"/>
              </a:spcAft>
              <a:buNone/>
            </a:pPr>
            <a:r>
              <a:rPr lang="en" sz="1000">
                <a:solidFill>
                  <a:srgbClr val="616161"/>
                </a:solidFill>
                <a:highlight>
                  <a:srgbClr val="FFFFFF"/>
                </a:highlight>
              </a:rPr>
              <a:t>Localhost browser tab: Enter port </a:t>
            </a:r>
            <a:r>
              <a:rPr b="1" lang="en" sz="1000">
                <a:solidFill>
                  <a:srgbClr val="616161"/>
                </a:solidFill>
                <a:highlight>
                  <a:srgbClr val="FFFFFF"/>
                </a:highlight>
                <a:latin typeface="Courier New"/>
                <a:ea typeface="Courier New"/>
                <a:cs typeface="Courier New"/>
                <a:sym typeface="Courier New"/>
              </a:rPr>
              <a:t>8080: </a:t>
            </a:r>
            <a:r>
              <a:rPr lang="en" sz="1000">
                <a:solidFill>
                  <a:srgbClr val="616161"/>
                </a:solidFill>
                <a:highlight>
                  <a:srgbClr val="FFFFFF"/>
                </a:highlight>
              </a:rPr>
              <a:t>Translates to port </a:t>
            </a:r>
            <a:r>
              <a:rPr b="1" lang="en" sz="1000">
                <a:solidFill>
                  <a:srgbClr val="616161"/>
                </a:solidFill>
                <a:highlight>
                  <a:srgbClr val="FFFFFF"/>
                </a:highlight>
                <a:latin typeface="Courier New"/>
                <a:ea typeface="Courier New"/>
                <a:cs typeface="Courier New"/>
                <a:sym typeface="Courier New"/>
              </a:rPr>
              <a:t>8080</a:t>
            </a:r>
            <a:r>
              <a:rPr lang="en" sz="1000">
                <a:solidFill>
                  <a:srgbClr val="616161"/>
                </a:solidFill>
                <a:highlight>
                  <a:srgbClr val="FFFFFF"/>
                </a:highlight>
              </a:rPr>
              <a:t> inside the Container (&gt; Flask). Sends back the HTML for the web app. </a:t>
            </a:r>
            <a:endParaRPr sz="1000">
              <a:solidFill>
                <a:srgbClr val="616161"/>
              </a:solidFill>
              <a:highlight>
                <a:srgbClr val="FFFFFF"/>
              </a:highlight>
            </a:endParaRPr>
          </a:p>
          <a:p>
            <a:pPr indent="0" lvl="0" marL="0" rtl="0" algn="l">
              <a:spcBef>
                <a:spcPts val="1200"/>
              </a:spcBef>
              <a:spcAft>
                <a:spcPts val="0"/>
              </a:spcAft>
              <a:buNone/>
            </a:pPr>
            <a:r>
              <a:rPr lang="en" sz="1000">
                <a:solidFill>
                  <a:srgbClr val="616161"/>
                </a:solidFill>
                <a:highlight>
                  <a:srgbClr val="FFFFFF"/>
                </a:highlight>
              </a:rPr>
              <a:t>The User enters a number, say 17, and clicks Check: A different message (a prime query for 17) goes to </a:t>
            </a:r>
            <a:r>
              <a:rPr b="1" lang="en" sz="1000">
                <a:solidFill>
                  <a:srgbClr val="616161"/>
                </a:solidFill>
                <a:highlight>
                  <a:srgbClr val="FFFFFF"/>
                </a:highlight>
                <a:latin typeface="Courier New"/>
                <a:ea typeface="Courier New"/>
                <a:cs typeface="Courier New"/>
                <a:sym typeface="Courier New"/>
              </a:rPr>
              <a:t>prime-web</a:t>
            </a:r>
            <a:r>
              <a:rPr lang="en" sz="1000">
                <a:solidFill>
                  <a:srgbClr val="616161"/>
                </a:solidFill>
                <a:highlight>
                  <a:srgbClr val="FFFFFF"/>
                </a:highlight>
              </a:rPr>
              <a:t>.</a:t>
            </a:r>
            <a:endParaRPr sz="1000">
              <a:solidFill>
                <a:srgbClr val="616161"/>
              </a:solidFill>
              <a:highlight>
                <a:srgbClr val="FFFFFF"/>
              </a:highlight>
            </a:endParaRPr>
          </a:p>
          <a:p>
            <a:pPr indent="0" lvl="0" marL="0" rtl="0" algn="l">
              <a:spcBef>
                <a:spcPts val="1200"/>
              </a:spcBef>
              <a:spcAft>
                <a:spcPts val="0"/>
              </a:spcAft>
              <a:buNone/>
            </a:pPr>
            <a:r>
              <a:rPr b="1" lang="en" sz="1000">
                <a:solidFill>
                  <a:srgbClr val="616161"/>
                </a:solidFill>
                <a:highlight>
                  <a:srgbClr val="FFFFFF"/>
                </a:highlight>
                <a:latin typeface="Courier New"/>
                <a:ea typeface="Courier New"/>
                <a:cs typeface="Courier New"/>
                <a:sym typeface="Courier New"/>
              </a:rPr>
              <a:t>prime-web</a:t>
            </a:r>
            <a:r>
              <a:rPr lang="en" sz="1000">
                <a:solidFill>
                  <a:srgbClr val="616161"/>
                </a:solidFill>
                <a:highlight>
                  <a:srgbClr val="FFFFFF"/>
                </a:highlight>
              </a:rPr>
              <a:t> in turn connects to </a:t>
            </a:r>
            <a:r>
              <a:rPr b="1" lang="en" sz="1000">
                <a:solidFill>
                  <a:srgbClr val="616161"/>
                </a:solidFill>
                <a:highlight>
                  <a:srgbClr val="FFFFFF"/>
                </a:highlight>
                <a:latin typeface="Courier New"/>
                <a:ea typeface="Courier New"/>
                <a:cs typeface="Courier New"/>
                <a:sym typeface="Courier New"/>
              </a:rPr>
              <a:t>prime-api</a:t>
            </a:r>
            <a:r>
              <a:rPr lang="en" sz="1000">
                <a:solidFill>
                  <a:srgbClr val="616161"/>
                </a:solidFill>
                <a:highlight>
                  <a:srgbClr val="FFFFFF"/>
                </a:highlight>
              </a:rPr>
              <a:t> using the network </a:t>
            </a:r>
            <a:r>
              <a:rPr b="1" lang="en" sz="1000">
                <a:solidFill>
                  <a:srgbClr val="616161"/>
                </a:solidFill>
                <a:highlight>
                  <a:srgbClr val="FFFFFF"/>
                </a:highlight>
                <a:latin typeface="Courier New"/>
                <a:ea typeface="Courier New"/>
                <a:cs typeface="Courier New"/>
                <a:sym typeface="Courier New"/>
              </a:rPr>
              <a:t>prime-net</a:t>
            </a:r>
            <a:r>
              <a:rPr lang="en" sz="1000">
                <a:solidFill>
                  <a:srgbClr val="616161"/>
                </a:solidFill>
                <a:highlight>
                  <a:srgbClr val="FFFFFF"/>
                </a:highlight>
              </a:rPr>
              <a:t>. The evaluation comes back (17 is prime) and this result is passed back to the browser. </a:t>
            </a:r>
            <a:endParaRPr sz="1000">
              <a:solidFill>
                <a:srgbClr val="616161"/>
              </a:solidFill>
              <a:highlight>
                <a:srgbClr val="FFFFFF"/>
              </a:highlight>
            </a:endParaRPr>
          </a:p>
          <a:p>
            <a:pPr indent="0" lvl="0" marL="0" rtl="0" algn="l">
              <a:spcBef>
                <a:spcPts val="1200"/>
              </a:spcBef>
              <a:spcAft>
                <a:spcPts val="1200"/>
              </a:spcAft>
              <a:buNone/>
            </a:pPr>
            <a:r>
              <a:rPr lang="en" sz="1000">
                <a:solidFill>
                  <a:srgbClr val="616161"/>
                </a:solidFill>
                <a:highlight>
                  <a:srgbClr val="FFFFFF"/>
                </a:highlight>
              </a:rPr>
              <a:t>The browser never interacts with the backend </a:t>
            </a:r>
            <a:r>
              <a:rPr b="1" lang="en" sz="1000">
                <a:solidFill>
                  <a:srgbClr val="616161"/>
                </a:solidFill>
                <a:highlight>
                  <a:srgbClr val="FFFFFF"/>
                </a:highlight>
                <a:latin typeface="Courier New"/>
                <a:ea typeface="Courier New"/>
                <a:cs typeface="Courier New"/>
                <a:sym typeface="Courier New"/>
              </a:rPr>
              <a:t>prime-api</a:t>
            </a:r>
            <a:r>
              <a:rPr lang="en" sz="1000">
                <a:solidFill>
                  <a:srgbClr val="616161"/>
                </a:solidFill>
                <a:highlight>
                  <a:srgbClr val="FFFFFF"/>
                </a:highlight>
              </a:rPr>
              <a:t> Container.</a:t>
            </a:r>
            <a:endParaRPr sz="1000">
              <a:solidFill>
                <a:srgbClr val="616161"/>
              </a:solidFill>
              <a:highlight>
                <a:srgbClr val="FFFFFF"/>
              </a:highlight>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8"/>
          <p:cNvSpPr txBox="1"/>
          <p:nvPr>
            <p:ph type="title"/>
          </p:nvPr>
        </p:nvSpPr>
        <p:spPr>
          <a:xfrm>
            <a:off x="311700" y="16560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Part 7: Running ResNet in a Container</a:t>
            </a:r>
            <a:endParaRPr/>
          </a:p>
        </p:txBody>
      </p:sp>
      <p:sp>
        <p:nvSpPr>
          <p:cNvPr id="271" name="Google Shape;271;p38"/>
          <p:cNvSpPr txBox="1"/>
          <p:nvPr>
            <p:ph idx="1" type="body"/>
          </p:nvPr>
        </p:nvSpPr>
        <p:spPr>
          <a:xfrm>
            <a:off x="311700" y="821300"/>
            <a:ext cx="8520600" cy="40344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n"/>
              <a:t>ResNet is a </a:t>
            </a:r>
            <a:r>
              <a:rPr b="1" lang="en"/>
              <a:t>Res</a:t>
            </a:r>
            <a:r>
              <a:rPr lang="en"/>
              <a:t>idual Neural </a:t>
            </a:r>
            <a:r>
              <a:rPr b="1" lang="en"/>
              <a:t>Net</a:t>
            </a:r>
            <a:r>
              <a:rPr lang="en"/>
              <a:t>work invented circa 2015. </a:t>
            </a:r>
            <a:endParaRPr/>
          </a:p>
          <a:p>
            <a:pPr indent="0" lvl="0" marL="0" rtl="0" algn="l">
              <a:spcBef>
                <a:spcPts val="1200"/>
              </a:spcBef>
              <a:spcAft>
                <a:spcPts val="0"/>
              </a:spcAft>
              <a:buNone/>
            </a:pPr>
            <a:r>
              <a:rPr lang="en"/>
              <a:t>We will use an instance that fits in a modest Container.</a:t>
            </a:r>
            <a:endParaRPr/>
          </a:p>
          <a:p>
            <a:pPr indent="0" lvl="0" marL="0" rtl="0" algn="l">
              <a:spcBef>
                <a:spcPts val="1200"/>
              </a:spcBef>
              <a:spcAft>
                <a:spcPts val="0"/>
              </a:spcAft>
              <a:buNone/>
            </a:pPr>
            <a:r>
              <a:rPr lang="en"/>
              <a:t>It has already been trained to recognize 1000 categories of objects (ImageNet dataset)</a:t>
            </a:r>
            <a:endParaRPr/>
          </a:p>
          <a:p>
            <a:pPr indent="0" lvl="0" marL="0" rtl="0" algn="l">
              <a:spcBef>
                <a:spcPts val="1200"/>
              </a:spcBef>
              <a:spcAft>
                <a:spcPts val="0"/>
              </a:spcAft>
              <a:buNone/>
            </a:pPr>
            <a:r>
              <a:rPr lang="en"/>
              <a:t>It has 50 neuronal layers; and 26 million parameters. </a:t>
            </a:r>
            <a:endParaRPr/>
          </a:p>
          <a:p>
            <a:pPr indent="0" lvl="0" marL="0" rtl="0" algn="l">
              <a:spcBef>
                <a:spcPts val="1200"/>
              </a:spcBef>
              <a:spcAft>
                <a:spcPts val="0"/>
              </a:spcAft>
              <a:buNone/>
            </a:pPr>
            <a:r>
              <a:rPr lang="en"/>
              <a:t>The image classifier is not so much the point here…</a:t>
            </a:r>
            <a:endParaRPr/>
          </a:p>
          <a:p>
            <a:pPr indent="-317182" lvl="0" marL="457200" rtl="0" algn="l">
              <a:spcBef>
                <a:spcPts val="1200"/>
              </a:spcBef>
              <a:spcAft>
                <a:spcPts val="0"/>
              </a:spcAft>
              <a:buSzPct val="100000"/>
              <a:buChar char="-"/>
            </a:pPr>
            <a:r>
              <a:rPr lang="en"/>
              <a:t>…rather: a concluding look at </a:t>
            </a:r>
            <a:r>
              <a:rPr b="1" lang="en">
                <a:latin typeface="Courier New"/>
                <a:ea typeface="Courier New"/>
                <a:cs typeface="Courier New"/>
                <a:sym typeface="Courier New"/>
              </a:rPr>
              <a:t>docker build + run</a:t>
            </a:r>
            <a:endParaRPr b="1">
              <a:latin typeface="Courier New"/>
              <a:ea typeface="Courier New"/>
              <a:cs typeface="Courier New"/>
              <a:sym typeface="Courier New"/>
            </a:endParaRPr>
          </a:p>
          <a:p>
            <a:pPr indent="-317182" lvl="0" marL="457200" rtl="0" algn="l">
              <a:spcBef>
                <a:spcPts val="0"/>
              </a:spcBef>
              <a:spcAft>
                <a:spcPts val="0"/>
              </a:spcAft>
              <a:buSzPct val="100000"/>
              <a:buChar char="-"/>
            </a:pPr>
            <a:r>
              <a:rPr lang="en"/>
              <a:t>…particularly relating to huggingface</a:t>
            </a:r>
            <a:endParaRPr/>
          </a:p>
          <a:p>
            <a:pPr indent="0" lvl="0" marL="0" rtl="0" algn="l">
              <a:spcBef>
                <a:spcPts val="1200"/>
              </a:spcBef>
              <a:spcAft>
                <a:spcPts val="0"/>
              </a:spcAft>
              <a:buNone/>
            </a:pPr>
            <a:r>
              <a:t/>
            </a:r>
            <a:endParaRPr/>
          </a:p>
          <a:p>
            <a:pPr indent="0" lvl="0" marL="0" rtl="0" algn="l">
              <a:lnSpc>
                <a:spcPct val="100000"/>
              </a:lnSpc>
              <a:spcBef>
                <a:spcPts val="1200"/>
              </a:spcBef>
              <a:spcAft>
                <a:spcPts val="0"/>
              </a:spcAft>
              <a:buClr>
                <a:schemeClr val="dk1"/>
              </a:buClr>
              <a:buSzPct val="52473"/>
              <a:buFont typeface="Arial"/>
              <a:buNone/>
            </a:pPr>
            <a:r>
              <a:rPr b="1" lang="en" sz="1886">
                <a:solidFill>
                  <a:schemeClr val="dk1"/>
                </a:solidFill>
                <a:latin typeface="Courier New"/>
                <a:ea typeface="Courier New"/>
                <a:cs typeface="Courier New"/>
                <a:sym typeface="Courier New"/>
              </a:rPr>
              <a:t>cd ~/docker-workshop/resnet-classifier</a:t>
            </a:r>
            <a:endParaRPr b="1" sz="1886">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ct val="52473"/>
              <a:buFont typeface="Arial"/>
              <a:buNone/>
            </a:pPr>
            <a:r>
              <a:rPr b="1" lang="en" sz="1886">
                <a:solidFill>
                  <a:schemeClr val="dk1"/>
                </a:solidFill>
                <a:latin typeface="Courier New"/>
                <a:ea typeface="Courier New"/>
                <a:cs typeface="Courier New"/>
                <a:sym typeface="Courier New"/>
              </a:rPr>
              <a:t>docker build -t resnet-classifier .</a:t>
            </a:r>
            <a:endParaRPr b="1" sz="1886">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b="1" lang="en" sz="1886">
                <a:solidFill>
                  <a:schemeClr val="dk1"/>
                </a:solidFill>
                <a:latin typeface="Courier New"/>
                <a:ea typeface="Courier New"/>
                <a:cs typeface="Courier New"/>
                <a:sym typeface="Courier New"/>
              </a:rPr>
              <a:t>docker run -d --name resnet -p 8081:8080 resnet-classifier</a:t>
            </a:r>
            <a:endParaRPr b="1" sz="1886">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1886">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1886">
              <a:solidFill>
                <a:schemeClr val="dk1"/>
              </a:solidFill>
              <a:latin typeface="Courier New"/>
              <a:ea typeface="Courier New"/>
              <a:cs typeface="Courier New"/>
              <a:sym typeface="Courier New"/>
            </a:endParaRPr>
          </a:p>
          <a:p>
            <a:pPr indent="0" lvl="0" marL="0" rtl="0" algn="l">
              <a:lnSpc>
                <a:spcPct val="100000"/>
              </a:lnSpc>
              <a:spcBef>
                <a:spcPts val="0"/>
              </a:spcBef>
              <a:spcAft>
                <a:spcPts val="0"/>
              </a:spcAft>
              <a:buNone/>
            </a:pPr>
            <a:r>
              <a:rPr lang="en" sz="1886">
                <a:solidFill>
                  <a:schemeClr val="dk1"/>
                </a:solidFill>
              </a:rPr>
              <a:t>browser tab address bar: </a:t>
            </a:r>
            <a:r>
              <a:rPr b="1" lang="en" sz="1886">
                <a:solidFill>
                  <a:schemeClr val="dk1"/>
                </a:solidFill>
                <a:latin typeface="Courier New"/>
                <a:ea typeface="Courier New"/>
                <a:cs typeface="Courier New"/>
                <a:sym typeface="Courier New"/>
              </a:rPr>
              <a:t>http://localhost:8081</a:t>
            </a:r>
            <a:endParaRPr b="1" sz="1886">
              <a:solidFill>
                <a:schemeClr val="dk1"/>
              </a:solidFill>
              <a:latin typeface="Courier New"/>
              <a:ea typeface="Courier New"/>
              <a:cs typeface="Courier New"/>
              <a:sym typeface="Courier New"/>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9"/>
          <p:cNvSpPr txBox="1"/>
          <p:nvPr>
            <p:ph type="title"/>
          </p:nvPr>
        </p:nvSpPr>
        <p:spPr>
          <a:xfrm>
            <a:off x="311700" y="533154"/>
            <a:ext cx="8520600" cy="4399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453">
                <a:latin typeface="Courier New"/>
                <a:ea typeface="Courier New"/>
                <a:cs typeface="Courier New"/>
                <a:sym typeface="Courier New"/>
              </a:rPr>
              <a:t>WORKDIR /app</a:t>
            </a:r>
            <a:endParaRPr b="1" sz="1453">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1453">
              <a:latin typeface="Courier New"/>
              <a:ea typeface="Courier New"/>
              <a:cs typeface="Courier New"/>
              <a:sym typeface="Courier New"/>
            </a:endParaRPr>
          </a:p>
          <a:p>
            <a:pPr indent="0" lvl="0" marL="0" rtl="0" algn="l">
              <a:spcBef>
                <a:spcPts val="0"/>
              </a:spcBef>
              <a:spcAft>
                <a:spcPts val="0"/>
              </a:spcAft>
              <a:buSzPts val="1100"/>
              <a:buNone/>
            </a:pPr>
            <a:r>
              <a:rPr b="1" lang="en" sz="1453">
                <a:latin typeface="Courier New"/>
                <a:ea typeface="Courier New"/>
                <a:cs typeface="Courier New"/>
                <a:sym typeface="Courier New"/>
              </a:rPr>
              <a:t>COPY requirements.txt .</a:t>
            </a:r>
            <a:endParaRPr b="1" sz="1453">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1453">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453">
                <a:latin typeface="Courier New"/>
                <a:ea typeface="Courier New"/>
                <a:cs typeface="Courier New"/>
                <a:sym typeface="Courier New"/>
              </a:rPr>
              <a:t>RUN pip install --no-cache-dir -r requirements.txt</a:t>
            </a:r>
            <a:endParaRPr b="1" sz="1453">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1453">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453">
                <a:latin typeface="Courier New"/>
                <a:ea typeface="Courier New"/>
                <a:cs typeface="Courier New"/>
                <a:sym typeface="Courier New"/>
              </a:rPr>
              <a:t>RUN python -c "from transformers import AutoModelForImageClassification; AutoModelForImageClassification.from_pretrained('microsoft/resnet-50')"</a:t>
            </a:r>
            <a:endParaRPr b="1" sz="1453">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1453">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453">
                <a:latin typeface="Courier New"/>
                <a:ea typeface="Courier New"/>
                <a:cs typeface="Courier New"/>
                <a:sym typeface="Courier New"/>
              </a:rPr>
              <a:t>COPY app.py .</a:t>
            </a:r>
            <a:endParaRPr b="1" sz="1453">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1453">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453">
                <a:latin typeface="Courier New"/>
                <a:ea typeface="Courier New"/>
                <a:cs typeface="Courier New"/>
                <a:sym typeface="Courier New"/>
              </a:rPr>
              <a:t>EXPOSE 8080</a:t>
            </a:r>
            <a:endParaRPr b="1" sz="1453">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1453">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453">
                <a:latin typeface="Courier New"/>
                <a:ea typeface="Courier New"/>
                <a:cs typeface="Courier New"/>
                <a:sym typeface="Courier New"/>
              </a:rPr>
              <a:t>CMD ["python", "app.py"]</a:t>
            </a:r>
            <a:endParaRPr b="1" sz="1453">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1886">
              <a:latin typeface="Courier New"/>
              <a:ea typeface="Courier New"/>
              <a:cs typeface="Courier New"/>
              <a:sym typeface="Courier New"/>
            </a:endParaRPr>
          </a:p>
          <a:p>
            <a:pPr indent="0" lvl="0" marL="0" rtl="0" algn="l">
              <a:spcBef>
                <a:spcPts val="0"/>
              </a:spcBef>
              <a:spcAft>
                <a:spcPts val="0"/>
              </a:spcAft>
              <a:buSzPts val="990"/>
              <a:buNone/>
            </a:pPr>
            <a:r>
              <a:t/>
            </a:r>
            <a:endParaRPr b="1" sz="1886">
              <a:latin typeface="Courier New"/>
              <a:ea typeface="Courier New"/>
              <a:cs typeface="Courier New"/>
              <a:sym typeface="Courier New"/>
            </a:endParaRPr>
          </a:p>
        </p:txBody>
      </p:sp>
      <p:sp>
        <p:nvSpPr>
          <p:cNvPr id="277" name="Google Shape;277;p39"/>
          <p:cNvSpPr txBox="1"/>
          <p:nvPr/>
        </p:nvSpPr>
        <p:spPr>
          <a:xfrm>
            <a:off x="3720500" y="3014629"/>
            <a:ext cx="54234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dk2"/>
                </a:solidFill>
                <a:latin typeface="Courier New"/>
                <a:ea typeface="Courier New"/>
                <a:cs typeface="Courier New"/>
                <a:sym typeface="Courier New"/>
              </a:rPr>
              <a:t>docker run</a:t>
            </a:r>
            <a:r>
              <a:rPr lang="en" sz="1600">
                <a:solidFill>
                  <a:schemeClr val="dk2"/>
                </a:solidFill>
              </a:rPr>
              <a:t> → from Image to (running) Container</a:t>
            </a:r>
            <a:endParaRPr sz="1600">
              <a:solidFill>
                <a:schemeClr val="dk2"/>
              </a:solidFill>
            </a:endParaRPr>
          </a:p>
          <a:p>
            <a:pPr indent="0" lvl="0" marL="0" rtl="0" algn="l">
              <a:spcBef>
                <a:spcPts val="0"/>
              </a:spcBef>
              <a:spcAft>
                <a:spcPts val="0"/>
              </a:spcAft>
              <a:buNone/>
            </a:pPr>
            <a:r>
              <a:t/>
            </a:r>
            <a:endParaRPr sz="1600">
              <a:solidFill>
                <a:schemeClr val="dk2"/>
              </a:solidFill>
            </a:endParaRPr>
          </a:p>
          <a:p>
            <a:pPr indent="0" lvl="0" marL="0" rtl="0" algn="l">
              <a:spcBef>
                <a:spcPts val="0"/>
              </a:spcBef>
              <a:spcAft>
                <a:spcPts val="0"/>
              </a:spcAft>
              <a:buNone/>
            </a:pPr>
            <a:r>
              <a:rPr lang="en" sz="1600">
                <a:solidFill>
                  <a:schemeClr val="dk2"/>
                </a:solidFill>
              </a:rPr>
              <a:t>RUN → What happens to create the Image</a:t>
            </a:r>
            <a:endParaRPr sz="1600">
              <a:solidFill>
                <a:schemeClr val="dk2"/>
              </a:solidFill>
            </a:endParaRPr>
          </a:p>
          <a:p>
            <a:pPr indent="0" lvl="0" marL="0" rtl="0" algn="l">
              <a:spcBef>
                <a:spcPts val="0"/>
              </a:spcBef>
              <a:spcAft>
                <a:spcPts val="0"/>
              </a:spcAft>
              <a:buNone/>
            </a:pPr>
            <a:r>
              <a:rPr lang="en" sz="1600">
                <a:solidFill>
                  <a:schemeClr val="dk2"/>
                </a:solidFill>
              </a:rPr>
              <a:t>CMD → Dockerfile: What runs in the Container</a:t>
            </a:r>
            <a:endParaRPr sz="1600">
              <a:solidFill>
                <a:schemeClr val="dk2"/>
              </a:solidFill>
            </a:endParaRPr>
          </a:p>
          <a:p>
            <a:pPr indent="0" lvl="0" marL="0" rtl="0" algn="l">
              <a:spcBef>
                <a:spcPts val="0"/>
              </a:spcBef>
              <a:spcAft>
                <a:spcPts val="0"/>
              </a:spcAft>
              <a:buNone/>
            </a:pPr>
            <a:r>
              <a:t/>
            </a:r>
            <a:endParaRPr sz="1600">
              <a:solidFill>
                <a:schemeClr val="dk2"/>
              </a:solidFill>
            </a:endParaRPr>
          </a:p>
          <a:p>
            <a:pPr indent="0" lvl="0" marL="0" rtl="0" algn="l">
              <a:spcBef>
                <a:spcPts val="0"/>
              </a:spcBef>
              <a:spcAft>
                <a:spcPts val="0"/>
              </a:spcAft>
              <a:buNone/>
            </a:pPr>
            <a:r>
              <a:rPr lang="en" sz="1600">
                <a:solidFill>
                  <a:schemeClr val="dk2"/>
                </a:solidFill>
              </a:rPr>
              <a:t>WORKDIR “where home is in the Container” </a:t>
            </a:r>
            <a:r>
              <a:rPr b="1" lang="en" sz="1600">
                <a:solidFill>
                  <a:schemeClr val="dk2"/>
                </a:solidFill>
                <a:latin typeface="Courier New"/>
                <a:ea typeface="Courier New"/>
                <a:cs typeface="Courier New"/>
                <a:sym typeface="Courier New"/>
              </a:rPr>
              <a:t>/app</a:t>
            </a:r>
            <a:endParaRPr b="1" sz="1600">
              <a:solidFill>
                <a:schemeClr val="dk2"/>
              </a:solidFill>
              <a:latin typeface="Courier New"/>
              <a:ea typeface="Courier New"/>
              <a:cs typeface="Courier New"/>
              <a:sym typeface="Courier New"/>
            </a:endParaRPr>
          </a:p>
          <a:p>
            <a:pPr indent="0" lvl="0" marL="0" rtl="0" algn="l">
              <a:spcBef>
                <a:spcPts val="0"/>
              </a:spcBef>
              <a:spcAft>
                <a:spcPts val="0"/>
              </a:spcAft>
              <a:buNone/>
            </a:pPr>
            <a:r>
              <a:rPr lang="en" sz="1600">
                <a:solidFill>
                  <a:schemeClr val="dk2"/>
                </a:solidFill>
              </a:rPr>
              <a:t>COPY → from project folder to home</a:t>
            </a:r>
            <a:endParaRPr sz="1600">
              <a:solidFill>
                <a:schemeClr val="dk2"/>
              </a:solidFill>
            </a:endParaRPr>
          </a:p>
        </p:txBody>
      </p:sp>
      <p:sp>
        <p:nvSpPr>
          <p:cNvPr id="278" name="Google Shape;278;p39"/>
          <p:cNvSpPr/>
          <p:nvPr/>
        </p:nvSpPr>
        <p:spPr>
          <a:xfrm>
            <a:off x="232850" y="1446754"/>
            <a:ext cx="662400" cy="3777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9" name="Google Shape;279;p39"/>
          <p:cNvSpPr/>
          <p:nvPr/>
        </p:nvSpPr>
        <p:spPr>
          <a:xfrm>
            <a:off x="232850" y="1863054"/>
            <a:ext cx="662400" cy="3777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0" name="Google Shape;280;p39"/>
          <p:cNvSpPr/>
          <p:nvPr/>
        </p:nvSpPr>
        <p:spPr>
          <a:xfrm>
            <a:off x="217326" y="3436053"/>
            <a:ext cx="662400" cy="3777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81" name="Google Shape;281;p39"/>
          <p:cNvCxnSpPr>
            <a:stCxn id="279" idx="5"/>
          </p:cNvCxnSpPr>
          <p:nvPr/>
        </p:nvCxnSpPr>
        <p:spPr>
          <a:xfrm>
            <a:off x="798244" y="2185441"/>
            <a:ext cx="2994600" cy="1523100"/>
          </a:xfrm>
          <a:prstGeom prst="straightConnector1">
            <a:avLst/>
          </a:prstGeom>
          <a:noFill/>
          <a:ln cap="flat" cmpd="sng" w="9525">
            <a:solidFill>
              <a:srgbClr val="FF0000"/>
            </a:solidFill>
            <a:prstDash val="solid"/>
            <a:round/>
            <a:headEnd len="med" w="med" type="none"/>
            <a:tailEnd len="med" w="med" type="none"/>
          </a:ln>
        </p:spPr>
      </p:cxnSp>
      <p:cxnSp>
        <p:nvCxnSpPr>
          <p:cNvPr id="282" name="Google Shape;282;p39"/>
          <p:cNvCxnSpPr>
            <a:stCxn id="280" idx="5"/>
            <a:endCxn id="277" idx="1"/>
          </p:cNvCxnSpPr>
          <p:nvPr/>
        </p:nvCxnSpPr>
        <p:spPr>
          <a:xfrm>
            <a:off x="782720" y="3758440"/>
            <a:ext cx="2937900" cy="210600"/>
          </a:xfrm>
          <a:prstGeom prst="straightConnector1">
            <a:avLst/>
          </a:prstGeom>
          <a:noFill/>
          <a:ln cap="flat" cmpd="sng" w="9525">
            <a:solidFill>
              <a:srgbClr val="FF0000"/>
            </a:solidFill>
            <a:prstDash val="solid"/>
            <a:round/>
            <a:headEnd len="med" w="med" type="none"/>
            <a:tailEnd len="med" w="med" type="none"/>
          </a:ln>
        </p:spPr>
      </p:cxn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Part 8. Summary and Conclusions</a:t>
            </a:r>
            <a:endParaRPr/>
          </a:p>
        </p:txBody>
      </p:sp>
      <p:sp>
        <p:nvSpPr>
          <p:cNvPr id="288" name="Google Shape;288;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Once these atomic Containers become second nature: A next topic is getting multiple Containers working in concert on a collective task. This is known as Container orchestration.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On a smaller scale you can use </a:t>
            </a:r>
            <a:r>
              <a:rPr b="1" lang="en">
                <a:latin typeface="Courier New"/>
                <a:ea typeface="Courier New"/>
                <a:cs typeface="Courier New"/>
                <a:sym typeface="Courier New"/>
              </a:rPr>
              <a:t>docker compose</a:t>
            </a:r>
            <a:r>
              <a:rPr lang="en"/>
              <a:t>.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On a larger scale (across many host machines) you have Kubernetes and so on.</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Part 8. Summary and Conclusions</a:t>
            </a:r>
            <a:endParaRPr/>
          </a:p>
        </p:txBody>
      </p:sp>
      <p:sp>
        <p:nvSpPr>
          <p:cNvPr id="294" name="Google Shape;294;p41"/>
          <p:cNvSpPr txBox="1"/>
          <p:nvPr>
            <p:ph idx="1" type="body"/>
          </p:nvPr>
        </p:nvSpPr>
        <p:spPr>
          <a:xfrm>
            <a:off x="311700" y="1178350"/>
            <a:ext cx="8520600" cy="3853500"/>
          </a:xfrm>
          <a:prstGeom prst="rect">
            <a:avLst/>
          </a:prstGeom>
        </p:spPr>
        <p:txBody>
          <a:bodyPr anchorCtr="0" anchor="t" bIns="91425" lIns="91425" spcFirstLastPara="1" rIns="91425" wrap="square" tIns="91425">
            <a:normAutofit fontScale="77500" lnSpcReduction="10000"/>
          </a:bodyPr>
          <a:lstStyle/>
          <a:p>
            <a:pPr indent="-317182" lvl="0" marL="457200" rtl="0" algn="l">
              <a:spcBef>
                <a:spcPts val="0"/>
              </a:spcBef>
              <a:spcAft>
                <a:spcPts val="0"/>
              </a:spcAft>
              <a:buSzPct val="100000"/>
              <a:buFont typeface="Courier New"/>
              <a:buChar char="-"/>
            </a:pPr>
            <a:r>
              <a:rPr b="1" lang="en">
                <a:latin typeface="Courier New"/>
                <a:ea typeface="Courier New"/>
                <a:cs typeface="Courier New"/>
                <a:sym typeface="Courier New"/>
              </a:rPr>
              <a:t>docker build					</a:t>
            </a:r>
            <a:r>
              <a:rPr b="1" lang="en">
                <a:solidFill>
                  <a:srgbClr val="0000FF"/>
                </a:solidFill>
                <a:latin typeface="Courier New"/>
                <a:ea typeface="Courier New"/>
                <a:cs typeface="Courier New"/>
                <a:sym typeface="Courier New"/>
              </a:rPr>
              <a:t>Dockerfile (.)</a:t>
            </a:r>
            <a:r>
              <a:rPr b="1" lang="en">
                <a:solidFill>
                  <a:srgbClr val="0000FF"/>
                </a:solidFill>
                <a:latin typeface="Courier New"/>
                <a:ea typeface="Courier New"/>
                <a:cs typeface="Courier New"/>
                <a:sym typeface="Courier New"/>
              </a:rPr>
              <a:t> to Image</a:t>
            </a:r>
            <a:r>
              <a:rPr b="1" lang="en">
                <a:latin typeface="Courier New"/>
                <a:ea typeface="Courier New"/>
                <a:cs typeface="Courier New"/>
                <a:sym typeface="Courier New"/>
              </a:rPr>
              <a:t> </a:t>
            </a:r>
            <a:endParaRPr b="1">
              <a:latin typeface="Courier New"/>
              <a:ea typeface="Courier New"/>
              <a:cs typeface="Courier New"/>
              <a:sym typeface="Courier New"/>
            </a:endParaRPr>
          </a:p>
          <a:p>
            <a:pPr indent="-317182" lvl="0" marL="457200" rtl="0" algn="l">
              <a:spcBef>
                <a:spcPts val="0"/>
              </a:spcBef>
              <a:spcAft>
                <a:spcPts val="0"/>
              </a:spcAft>
              <a:buSzPct val="100000"/>
              <a:buFont typeface="Courier New"/>
              <a:buChar char="-"/>
            </a:pPr>
            <a:r>
              <a:rPr b="1" lang="en">
                <a:latin typeface="Courier New"/>
                <a:ea typeface="Courier New"/>
                <a:cs typeface="Courier New"/>
                <a:sym typeface="Courier New"/>
              </a:rPr>
              <a:t>docker create 				</a:t>
            </a:r>
            <a:r>
              <a:rPr b="1" lang="en">
                <a:solidFill>
                  <a:srgbClr val="0000FF"/>
                </a:solidFill>
                <a:latin typeface="Courier New"/>
                <a:ea typeface="Courier New"/>
                <a:cs typeface="Courier New"/>
                <a:sym typeface="Courier New"/>
              </a:rPr>
              <a:t>Image to Container (no run, rare)</a:t>
            </a:r>
            <a:endParaRPr b="1">
              <a:solidFill>
                <a:srgbClr val="0000FF"/>
              </a:solidFill>
              <a:latin typeface="Courier New"/>
              <a:ea typeface="Courier New"/>
              <a:cs typeface="Courier New"/>
              <a:sym typeface="Courier New"/>
            </a:endParaRPr>
          </a:p>
          <a:p>
            <a:pPr indent="-317182" lvl="0" marL="457200" rtl="0" algn="l">
              <a:spcBef>
                <a:spcPts val="0"/>
              </a:spcBef>
              <a:spcAft>
                <a:spcPts val="0"/>
              </a:spcAft>
              <a:buSzPct val="100000"/>
              <a:buFont typeface="Courier New"/>
              <a:buChar char="-"/>
            </a:pPr>
            <a:r>
              <a:rPr b="1" lang="en">
                <a:latin typeface="Courier New"/>
                <a:ea typeface="Courier New"/>
                <a:cs typeface="Courier New"/>
                <a:sym typeface="Courier New"/>
              </a:rPr>
              <a:t>docker run 					</a:t>
            </a:r>
            <a:r>
              <a:rPr b="1" lang="en">
                <a:solidFill>
                  <a:srgbClr val="0000FF"/>
                </a:solidFill>
                <a:latin typeface="Courier New"/>
                <a:ea typeface="Courier New"/>
                <a:cs typeface="Courier New"/>
                <a:sym typeface="Courier New"/>
              </a:rPr>
              <a:t>Image to running Container</a:t>
            </a:r>
            <a:endParaRPr b="1">
              <a:solidFill>
                <a:srgbClr val="0000FF"/>
              </a:solidFill>
              <a:latin typeface="Courier New"/>
              <a:ea typeface="Courier New"/>
              <a:cs typeface="Courier New"/>
              <a:sym typeface="Courier New"/>
            </a:endParaRPr>
          </a:p>
          <a:p>
            <a:pPr indent="-317182" lvl="0" marL="457200" rtl="0" algn="l">
              <a:spcBef>
                <a:spcPts val="0"/>
              </a:spcBef>
              <a:spcAft>
                <a:spcPts val="0"/>
              </a:spcAft>
              <a:buSzPct val="100000"/>
              <a:buFont typeface="Courier New"/>
              <a:buChar char="-"/>
            </a:pPr>
            <a:r>
              <a:rPr b="1" lang="en">
                <a:latin typeface="Courier New"/>
                <a:ea typeface="Courier New"/>
                <a:cs typeface="Courier New"/>
                <a:sym typeface="Courier New"/>
              </a:rPr>
              <a:t>docker start					</a:t>
            </a:r>
            <a:r>
              <a:rPr b="1" lang="en">
                <a:solidFill>
                  <a:srgbClr val="0000FF"/>
                </a:solidFill>
                <a:latin typeface="Courier New"/>
                <a:ea typeface="Courier New"/>
                <a:cs typeface="Courier New"/>
                <a:sym typeface="Courier New"/>
              </a:rPr>
              <a:t>Stopped Container to running Container</a:t>
            </a:r>
            <a:endParaRPr b="1">
              <a:solidFill>
                <a:srgbClr val="0000FF"/>
              </a:solidFill>
              <a:latin typeface="Courier New"/>
              <a:ea typeface="Courier New"/>
              <a:cs typeface="Courier New"/>
              <a:sym typeface="Courier New"/>
            </a:endParaRPr>
          </a:p>
          <a:p>
            <a:pPr indent="0" lvl="0" marL="0" rtl="0" algn="l">
              <a:spcBef>
                <a:spcPts val="1200"/>
              </a:spcBef>
              <a:spcAft>
                <a:spcPts val="0"/>
              </a:spcAft>
              <a:buNone/>
            </a:pPr>
            <a:r>
              <a:t/>
            </a:r>
            <a:endParaRPr/>
          </a:p>
          <a:p>
            <a:pPr indent="-317182" lvl="0" marL="457200" rtl="0" algn="l">
              <a:spcBef>
                <a:spcPts val="1200"/>
              </a:spcBef>
              <a:spcAft>
                <a:spcPts val="0"/>
              </a:spcAft>
              <a:buSzPct val="100000"/>
              <a:buChar char="-"/>
            </a:pPr>
            <a:r>
              <a:rPr lang="en"/>
              <a:t>The </a:t>
            </a:r>
            <a:r>
              <a:rPr lang="en"/>
              <a:t>UW IT RC workshop: November, KF: AppTainer + Tillicum</a:t>
            </a:r>
            <a:endParaRPr/>
          </a:p>
          <a:p>
            <a:pPr indent="-297497" lvl="1" marL="914400" rtl="0" algn="l">
              <a:spcBef>
                <a:spcPts val="0"/>
              </a:spcBef>
              <a:spcAft>
                <a:spcPts val="0"/>
              </a:spcAft>
              <a:buSzPct val="100000"/>
              <a:buChar char="-"/>
            </a:pPr>
            <a:r>
              <a:rPr lang="en"/>
              <a:t>Bridge to Docker via subtle auto-convert: Docker Hub &gt; Tillicum HPC</a:t>
            </a:r>
            <a:endParaRPr/>
          </a:p>
          <a:p>
            <a:pPr indent="-317182" lvl="0" marL="457200" rtl="0" algn="l">
              <a:spcBef>
                <a:spcPts val="0"/>
              </a:spcBef>
              <a:spcAft>
                <a:spcPts val="0"/>
              </a:spcAft>
              <a:buSzPct val="100000"/>
              <a:buChar char="-"/>
            </a:pPr>
            <a:r>
              <a:rPr lang="en"/>
              <a:t>Docker (et al) key design principles</a:t>
            </a:r>
            <a:endParaRPr/>
          </a:p>
          <a:p>
            <a:pPr indent="-297497" lvl="1" marL="914400" rtl="0" algn="l">
              <a:spcBef>
                <a:spcPts val="0"/>
              </a:spcBef>
              <a:spcAft>
                <a:spcPts val="0"/>
              </a:spcAft>
              <a:buSzPct val="100000"/>
              <a:buChar char="-"/>
            </a:pPr>
            <a:r>
              <a:rPr lang="en"/>
              <a:t>Rapid development, minimal support infrastructure</a:t>
            </a:r>
            <a:endParaRPr/>
          </a:p>
          <a:p>
            <a:pPr indent="-297497" lvl="1" marL="914400" rtl="0" algn="l">
              <a:spcBef>
                <a:spcPts val="0"/>
              </a:spcBef>
              <a:spcAft>
                <a:spcPts val="0"/>
              </a:spcAft>
              <a:buSzPct val="100000"/>
              <a:buChar char="-"/>
            </a:pPr>
            <a:r>
              <a:rPr lang="en"/>
              <a:t>Isolation from host</a:t>
            </a:r>
            <a:endParaRPr/>
          </a:p>
          <a:p>
            <a:pPr indent="-297497" lvl="1" marL="914400" rtl="0" algn="l">
              <a:spcBef>
                <a:spcPts val="0"/>
              </a:spcBef>
              <a:spcAft>
                <a:spcPts val="0"/>
              </a:spcAft>
              <a:buSzPct val="100000"/>
              <a:buChar char="-"/>
            </a:pPr>
            <a:r>
              <a:rPr lang="en"/>
              <a:t>Portability</a:t>
            </a:r>
            <a:endParaRPr/>
          </a:p>
          <a:p>
            <a:pPr indent="-297497" lvl="1" marL="914400" rtl="0" algn="l">
              <a:spcBef>
                <a:spcPts val="0"/>
              </a:spcBef>
              <a:spcAft>
                <a:spcPts val="0"/>
              </a:spcAft>
              <a:buSzPct val="100000"/>
              <a:buChar char="-"/>
            </a:pPr>
            <a:r>
              <a:rPr lang="en"/>
              <a:t>Persistence (Containers remember changes)</a:t>
            </a:r>
            <a:endParaRPr/>
          </a:p>
          <a:p>
            <a:pPr indent="-297497" lvl="1" marL="914400" rtl="0" algn="l">
              <a:spcBef>
                <a:spcPts val="0"/>
              </a:spcBef>
              <a:spcAft>
                <a:spcPts val="0"/>
              </a:spcAft>
              <a:buSzPct val="100000"/>
              <a:buChar char="-"/>
            </a:pPr>
            <a:r>
              <a:rPr lang="en"/>
              <a:t>From SPF/Research paradigm → Research Software Engineering paradigm</a:t>
            </a:r>
            <a:endParaRPr/>
          </a:p>
          <a:p>
            <a:pPr indent="-317182" lvl="0" marL="457200" rtl="0" algn="l">
              <a:spcBef>
                <a:spcPts val="0"/>
              </a:spcBef>
              <a:spcAft>
                <a:spcPts val="0"/>
              </a:spcAft>
              <a:buSzPct val="100000"/>
              <a:buChar char="-"/>
            </a:pPr>
            <a:r>
              <a:rPr lang="en"/>
              <a:t>There may (will) be bumps along the way</a:t>
            </a:r>
            <a:endParaRPr/>
          </a:p>
          <a:p>
            <a:pPr indent="-297497" lvl="1" marL="914400" rtl="0" algn="l">
              <a:spcBef>
                <a:spcPts val="0"/>
              </a:spcBef>
              <a:spcAft>
                <a:spcPts val="0"/>
              </a:spcAft>
              <a:buSzPct val="100000"/>
              <a:buChar char="-"/>
            </a:pPr>
            <a:r>
              <a:rPr lang="en"/>
              <a:t>Localhost ARM may not translate to HPC AMD processor architecture</a:t>
            </a:r>
            <a:endParaRPr/>
          </a:p>
          <a:p>
            <a:pPr indent="-297497" lvl="1" marL="914400" rtl="0" algn="l">
              <a:spcBef>
                <a:spcPts val="0"/>
              </a:spcBef>
              <a:spcAft>
                <a:spcPts val="0"/>
              </a:spcAft>
              <a:buSzPct val="100000"/>
              <a:buChar char="-"/>
            </a:pPr>
            <a:r>
              <a:rPr lang="en"/>
              <a:t>One approach is </a:t>
            </a:r>
            <a:r>
              <a:rPr lang="en" u="sng">
                <a:solidFill>
                  <a:schemeClr val="hlink"/>
                </a:solidFill>
                <a:hlinkClick r:id="rId3"/>
              </a:rPr>
              <a:t>Multi-Platform Building</a:t>
            </a:r>
            <a:endParaRPr/>
          </a:p>
          <a:p>
            <a:pPr indent="-297497" lvl="1" marL="914400" rtl="0" algn="l">
              <a:spcBef>
                <a:spcPts val="0"/>
              </a:spcBef>
              <a:spcAft>
                <a:spcPts val="0"/>
              </a:spcAft>
              <a:buSzPct val="100000"/>
              <a:buChar char="-"/>
            </a:pPr>
            <a:r>
              <a:rPr lang="en"/>
              <a:t>Another approach: Build where you will run</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Conclusion</a:t>
            </a:r>
            <a:endParaRPr/>
          </a:p>
        </p:txBody>
      </p:sp>
      <p:sp>
        <p:nvSpPr>
          <p:cNvPr id="300" name="Google Shape;300;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Docker is a Container ecosystem → learning curves</a:t>
            </a:r>
            <a:endParaRPr/>
          </a:p>
          <a:p>
            <a:pPr indent="-342900" lvl="0" marL="457200" rtl="0" algn="l">
              <a:spcBef>
                <a:spcPts val="0"/>
              </a:spcBef>
              <a:spcAft>
                <a:spcPts val="0"/>
              </a:spcAft>
              <a:buSzPts val="1800"/>
              <a:buChar char="●"/>
            </a:pPr>
            <a:r>
              <a:rPr lang="en"/>
              <a:t>This workshop attempted ‘from the ground up’</a:t>
            </a:r>
            <a:endParaRPr/>
          </a:p>
          <a:p>
            <a:pPr indent="-342900" lvl="0" marL="457200" rtl="0" algn="l">
              <a:spcBef>
                <a:spcPts val="0"/>
              </a:spcBef>
              <a:spcAft>
                <a:spcPts val="0"/>
              </a:spcAft>
              <a:buSzPts val="1800"/>
              <a:buChar char="●"/>
            </a:pPr>
            <a:r>
              <a:rPr lang="en"/>
              <a:t>Note existence: Tillicum / AppTainer workshop</a:t>
            </a:r>
            <a:endParaRPr/>
          </a:p>
          <a:p>
            <a:pPr indent="-342900" lvl="0" marL="457200" rtl="0" algn="l">
              <a:spcBef>
                <a:spcPts val="0"/>
              </a:spcBef>
              <a:spcAft>
                <a:spcPts val="0"/>
              </a:spcAft>
              <a:buSzPts val="1800"/>
              <a:buChar char="●"/>
            </a:pPr>
            <a:r>
              <a:rPr lang="en"/>
              <a:t>Docker Hub: Free, public Container space</a:t>
            </a:r>
            <a:endParaRPr/>
          </a:p>
          <a:p>
            <a:pPr indent="-342900" lvl="0" marL="457200" rtl="0" algn="l">
              <a:spcBef>
                <a:spcPts val="0"/>
              </a:spcBef>
              <a:spcAft>
                <a:spcPts val="0"/>
              </a:spcAft>
              <a:buSzPts val="1800"/>
              <a:buChar char="●"/>
            </a:pPr>
            <a:r>
              <a:rPr lang="en"/>
              <a:t>GitHub: Free, public Project space</a:t>
            </a:r>
            <a:endParaRPr/>
          </a:p>
          <a:p>
            <a:pPr indent="-342900" lvl="0" marL="457200" rtl="0" algn="l">
              <a:spcBef>
                <a:spcPts val="0"/>
              </a:spcBef>
              <a:spcAft>
                <a:spcPts val="0"/>
              </a:spcAft>
              <a:buSzPts val="1800"/>
              <a:buChar char="●"/>
            </a:pPr>
            <a:r>
              <a:rPr lang="en"/>
              <a:t>HuggingFace: Free, public Data + Models space</a:t>
            </a:r>
            <a:endParaRPr/>
          </a:p>
          <a:p>
            <a:pPr indent="-342900" lvl="0" marL="457200" rtl="0" algn="l">
              <a:spcBef>
                <a:spcPts val="0"/>
              </a:spcBef>
              <a:spcAft>
                <a:spcPts val="0"/>
              </a:spcAft>
              <a:buSzPts val="1800"/>
              <a:buChar char="●"/>
            </a:pPr>
            <a:r>
              <a:rPr lang="en"/>
              <a:t>Coding Assistants (Copilot, Q etc)</a:t>
            </a:r>
            <a:endParaRPr/>
          </a:p>
          <a:p>
            <a:pPr indent="-342900" lvl="0" marL="457200" rtl="0" algn="l">
              <a:spcBef>
                <a:spcPts val="0"/>
              </a:spcBef>
              <a:spcAft>
                <a:spcPts val="0"/>
              </a:spcAft>
              <a:buSzPts val="1800"/>
              <a:buChar char="●"/>
            </a:pPr>
            <a:r>
              <a:rPr lang="en"/>
              <a:t>Orchestration</a:t>
            </a:r>
            <a:endParaRPr/>
          </a:p>
          <a:p>
            <a:pPr indent="-342900" lvl="0" marL="457200" rtl="0" algn="l">
              <a:spcBef>
                <a:spcPts val="0"/>
              </a:spcBef>
              <a:spcAft>
                <a:spcPts val="0"/>
              </a:spcAft>
              <a:buSzPts val="1800"/>
              <a:buChar char="●"/>
            </a:pPr>
            <a:r>
              <a:rPr lang="en"/>
              <a:t>Duality</a:t>
            </a:r>
            <a:endParaRPr/>
          </a:p>
          <a:p>
            <a:pPr indent="-342900" lvl="0" marL="457200" rtl="0" algn="l">
              <a:spcBef>
                <a:spcPts val="0"/>
              </a:spcBef>
              <a:spcAft>
                <a:spcPts val="0"/>
              </a:spcAft>
              <a:buSzPts val="1800"/>
              <a:buChar char="●"/>
            </a:pPr>
            <a:r>
              <a:rPr lang="en"/>
              <a:t>UW IT Research Computing + eScience Institute </a:t>
            </a:r>
            <a:endParaRPr/>
          </a:p>
        </p:txBody>
      </p:sp>
      <p:pic>
        <p:nvPicPr>
          <p:cNvPr id="301" name="Google Shape;301;p42" title="boom.png"/>
          <p:cNvPicPr preferRelativeResize="0"/>
          <p:nvPr/>
        </p:nvPicPr>
        <p:blipFill>
          <a:blip r:embed="rId3">
            <a:alphaModFix/>
          </a:blip>
          <a:stretch>
            <a:fillRect/>
          </a:stretch>
        </p:blipFill>
        <p:spPr>
          <a:xfrm>
            <a:off x="6192850" y="987375"/>
            <a:ext cx="2781449" cy="40302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